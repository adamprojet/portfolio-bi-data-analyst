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12192000" cy="6858000"/>
  <p:notesSz cx="6858000" cy="9144000"/>
  <p:embeddedFontLst>
    <p:embeddedFont>
      <p:font typeface="Lato" panose="020F0502020204030203" pitchFamily="34" charset="0"/>
      <p:regular r:id="rId12"/>
      <p:bold r:id="rId13"/>
      <p:italic r:id="rId14"/>
      <p:boldItalic r:id="rId15"/>
    </p:embeddedFont>
    <p:embeddedFont>
      <p:font typeface="Poppins" panose="00000500000000000000" pitchFamily="2" charset="0"/>
      <p:regular r:id="rId16"/>
      <p:bold r:id="rId17"/>
      <p:italic r:id="rId18"/>
      <p:boldItalic r:id="rId19"/>
    </p:embeddedFont>
    <p:embeddedFont>
      <p:font typeface="Poppins SemiBold" panose="000007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E29CD9-3B92-4A89-B910-AA65B7E8276D}">
  <a:tblStyle styleId="{57E29CD9-3B92-4A89-B910-AA65B7E8276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56"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4.fntdata"/><Relationship Id="rId23" Type="http://schemas.openxmlformats.org/officeDocument/2006/relationships/font" Target="fonts/font12.fntdata"/><Relationship Id="rId10" Type="http://schemas.openxmlformats.org/officeDocument/2006/relationships/slide" Target="slides/slide8.xml"/><Relationship Id="rId19"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edebae04b4_0_4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g3edebae04b4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edebae04b4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3edebae04b4_0_57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f06984a5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f06984a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edebae04b4_0_6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g3edebae04b4_0_6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edebae04b4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3edebae04b4_0_76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f06984a599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g3f06984a599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edebae04b4_0_8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3edebae04b4_0_8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1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p1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1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p1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8"/>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p18"/>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9"/>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p19"/>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p19"/>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19"/>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1"/>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p21"/>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2"/>
          <p:cNvSpPr>
            <a:spLocks noGrp="1"/>
          </p:cNvSpPr>
          <p:nvPr>
            <p:ph type="pic" idx="2"/>
          </p:nvPr>
        </p:nvSpPr>
        <p:spPr>
          <a:xfrm>
            <a:off x="1792288" y="612775"/>
            <a:ext cx="5486400" cy="4114800"/>
          </a:xfrm>
          <a:prstGeom prst="rect">
            <a:avLst/>
          </a:prstGeom>
          <a:noFill/>
          <a:ln>
            <a:noFill/>
          </a:ln>
        </p:spPr>
      </p:sp>
      <p:sp>
        <p:nvSpPr>
          <p:cNvPr id="139" name="Google Shape;139;p22"/>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3"/>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4"/>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8.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
        <p:cNvGrpSpPr/>
        <p:nvPr/>
      </p:nvGrpSpPr>
      <p:grpSpPr>
        <a:xfrm>
          <a:off x="0" y="0"/>
          <a:ext cx="0" cy="0"/>
          <a:chOff x="0" y="0"/>
          <a:chExt cx="0" cy="0"/>
        </a:xfrm>
      </p:grpSpPr>
      <p:sp>
        <p:nvSpPr>
          <p:cNvPr id="159" name="Google Shape;159;p25"/>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Contexte &amp; Objectifs du Projet</a:t>
            </a:r>
            <a:endParaRPr/>
          </a:p>
        </p:txBody>
      </p:sp>
      <p:sp>
        <p:nvSpPr>
          <p:cNvPr id="160" name="Google Shape;160;p25"/>
          <p:cNvSpPr txBox="1"/>
          <p:nvPr/>
        </p:nvSpPr>
        <p:spPr>
          <a:xfrm>
            <a:off x="762000" y="1266825"/>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Lato"/>
                <a:ea typeface="Lato"/>
                <a:cs typeface="Lato"/>
                <a:sym typeface="Lato"/>
              </a:rPr>
              <a:t>La mission stratégique confiée par la direction d'UOI Games.</a:t>
            </a:r>
            <a:endParaRPr/>
          </a:p>
        </p:txBody>
      </p:sp>
      <p:grpSp>
        <p:nvGrpSpPr>
          <p:cNvPr id="161" name="Google Shape;161;p25"/>
          <p:cNvGrpSpPr/>
          <p:nvPr/>
        </p:nvGrpSpPr>
        <p:grpSpPr>
          <a:xfrm>
            <a:off x="1561950" y="1993325"/>
            <a:ext cx="10534637" cy="3829200"/>
            <a:chOff x="657225" y="1809750"/>
            <a:chExt cx="10534637" cy="3829200"/>
          </a:xfrm>
        </p:grpSpPr>
        <p:pic>
          <p:nvPicPr>
            <p:cNvPr id="162" name="Google Shape;162;p25"/>
            <p:cNvPicPr preferRelativeResize="0"/>
            <p:nvPr/>
          </p:nvPicPr>
          <p:blipFill rotWithShape="1">
            <a:blip r:embed="rId4">
              <a:alphaModFix/>
            </a:blip>
            <a:srcRect/>
            <a:stretch/>
          </p:blipFill>
          <p:spPr>
            <a:xfrm>
              <a:off x="657225" y="1809750"/>
              <a:ext cx="3576600" cy="3333900"/>
            </a:xfrm>
            <a:prstGeom prst="rect">
              <a:avLst/>
            </a:prstGeom>
            <a:noFill/>
            <a:ln>
              <a:noFill/>
            </a:ln>
          </p:spPr>
        </p:pic>
        <p:pic>
          <p:nvPicPr>
            <p:cNvPr id="163" name="Google Shape;163;p25"/>
            <p:cNvPicPr preferRelativeResize="0"/>
            <p:nvPr/>
          </p:nvPicPr>
          <p:blipFill rotWithShape="1">
            <a:blip r:embed="rId5">
              <a:alphaModFix/>
            </a:blip>
            <a:srcRect/>
            <a:stretch/>
          </p:blipFill>
          <p:spPr>
            <a:xfrm>
              <a:off x="4310063" y="1809750"/>
              <a:ext cx="3571800" cy="3333900"/>
            </a:xfrm>
            <a:prstGeom prst="rect">
              <a:avLst/>
            </a:prstGeom>
            <a:noFill/>
            <a:ln>
              <a:noFill/>
            </a:ln>
          </p:spPr>
        </p:pic>
        <p:pic>
          <p:nvPicPr>
            <p:cNvPr id="164" name="Google Shape;164;p25"/>
            <p:cNvPicPr preferRelativeResize="0"/>
            <p:nvPr/>
          </p:nvPicPr>
          <p:blipFill rotWithShape="1">
            <a:blip r:embed="rId6">
              <a:alphaModFix/>
            </a:blip>
            <a:srcRect/>
            <a:stretch/>
          </p:blipFill>
          <p:spPr>
            <a:xfrm>
              <a:off x="7958138" y="1809750"/>
              <a:ext cx="1185900" cy="3333900"/>
            </a:xfrm>
            <a:prstGeom prst="rect">
              <a:avLst/>
            </a:prstGeom>
            <a:noFill/>
            <a:ln>
              <a:noFill/>
            </a:ln>
          </p:spPr>
        </p:pic>
        <p:sp>
          <p:nvSpPr>
            <p:cNvPr id="165" name="Google Shape;165;p25"/>
            <p:cNvSpPr txBox="1"/>
            <p:nvPr/>
          </p:nvSpPr>
          <p:spPr>
            <a:xfrm>
              <a:off x="1000125" y="2114550"/>
              <a:ext cx="2889300" cy="3524400"/>
            </a:xfrm>
            <a:prstGeom prst="rect">
              <a:avLst/>
            </a:prstGeom>
            <a:noFill/>
            <a:ln>
              <a:noFill/>
            </a:ln>
          </p:spPr>
          <p:txBody>
            <a:bodyPr spcFirstLastPara="1" wrap="square" lIns="0" tIns="0" rIns="0" bIns="0" anchor="t" anchorCtr="0">
              <a:noAutofit/>
            </a:bodyPr>
            <a:lstStyle/>
            <a:p>
              <a:pPr marL="0" lvl="0" indent="0" algn="ctr" rtl="0">
                <a:spcBef>
                  <a:spcPts val="1500"/>
                </a:spcBef>
                <a:spcAft>
                  <a:spcPts val="0"/>
                </a:spcAft>
                <a:buNone/>
              </a:pPr>
              <a:endParaRPr lang="en-US" sz="1800" b="1" dirty="0">
                <a:solidFill>
                  <a:srgbClr val="0F172A"/>
                </a:solidFill>
                <a:latin typeface="Poppins"/>
                <a:ea typeface="Poppins"/>
                <a:cs typeface="Poppins"/>
                <a:sym typeface="Poppins"/>
              </a:endParaRPr>
            </a:p>
            <a:p>
              <a:pPr marL="0" lvl="0" indent="0" algn="ctr" rtl="0">
                <a:spcBef>
                  <a:spcPts val="1500"/>
                </a:spcBef>
                <a:spcAft>
                  <a:spcPts val="0"/>
                </a:spcAft>
                <a:buNone/>
              </a:pPr>
              <a:r>
                <a:rPr lang="en-US" sz="1800" b="1" dirty="0" err="1">
                  <a:solidFill>
                    <a:srgbClr val="0F172A"/>
                  </a:solidFill>
                  <a:latin typeface="Poppins"/>
                  <a:ea typeface="Poppins"/>
                  <a:cs typeface="Poppins"/>
                  <a:sym typeface="Poppins"/>
                </a:rPr>
                <a:t>L'Objectif</a:t>
              </a:r>
              <a:r>
                <a:rPr lang="en-US" sz="1800" b="1" dirty="0">
                  <a:solidFill>
                    <a:srgbClr val="0F172A"/>
                  </a:solidFill>
                  <a:latin typeface="Poppins"/>
                  <a:ea typeface="Poppins"/>
                  <a:cs typeface="Poppins"/>
                  <a:sym typeface="Poppins"/>
                </a:rPr>
                <a:t> Principal</a:t>
              </a:r>
              <a:endParaRPr sz="1800" b="1" dirty="0">
                <a:solidFill>
                  <a:srgbClr val="0F172A"/>
                </a:solidFill>
                <a:latin typeface="Poppins"/>
                <a:ea typeface="Poppins"/>
                <a:cs typeface="Poppins"/>
                <a:sym typeface="Poppins"/>
              </a:endParaRPr>
            </a:p>
            <a:p>
              <a:pPr marL="0" lvl="0" indent="0" algn="l" rtl="0">
                <a:spcBef>
                  <a:spcPts val="750"/>
                </a:spcBef>
                <a:spcAft>
                  <a:spcPts val="0"/>
                </a:spcAft>
                <a:buNone/>
              </a:pPr>
              <a:r>
                <a:rPr lang="en-US" sz="1200" b="0" dirty="0">
                  <a:solidFill>
                    <a:srgbClr val="475569"/>
                  </a:solidFill>
                  <a:latin typeface="Lato"/>
                  <a:ea typeface="Lato"/>
                  <a:cs typeface="Lato"/>
                  <a:sym typeface="Lato"/>
                </a:rPr>
                <a:t>Lancer </a:t>
              </a:r>
              <a:r>
                <a:rPr lang="en-US" sz="1200" b="0" dirty="0" err="1">
                  <a:solidFill>
                    <a:srgbClr val="475569"/>
                  </a:solidFill>
                  <a:latin typeface="Lato"/>
                  <a:ea typeface="Lato"/>
                  <a:cs typeface="Lato"/>
                  <a:sym typeface="Lato"/>
                </a:rPr>
                <a:t>une</a:t>
              </a:r>
              <a:r>
                <a:rPr lang="en-US" sz="1200" b="0" dirty="0">
                  <a:solidFill>
                    <a:srgbClr val="475569"/>
                  </a:solidFill>
                  <a:latin typeface="Lato"/>
                  <a:ea typeface="Lato"/>
                  <a:cs typeface="Lato"/>
                  <a:sym typeface="Lato"/>
                </a:rPr>
                <a:t> </a:t>
              </a:r>
              <a:r>
                <a:rPr lang="en-US" sz="1200" b="1" dirty="0">
                  <a:solidFill>
                    <a:srgbClr val="1E293B"/>
                  </a:solidFill>
                  <a:latin typeface="Lato"/>
                  <a:ea typeface="Lato"/>
                  <a:cs typeface="Lato"/>
                  <a:sym typeface="Lato"/>
                </a:rPr>
                <a:t>nouvelle </a:t>
              </a:r>
              <a:r>
                <a:rPr lang="en-US" sz="1200" b="1" dirty="0" err="1">
                  <a:solidFill>
                    <a:srgbClr val="1E293B"/>
                  </a:solidFill>
                  <a:latin typeface="Lato"/>
                  <a:ea typeface="Lato"/>
                  <a:cs typeface="Lato"/>
                  <a:sym typeface="Lato"/>
                </a:rPr>
                <a:t>licence</a:t>
              </a:r>
              <a:r>
                <a:rPr lang="en-US" sz="1200" b="1" dirty="0">
                  <a:solidFill>
                    <a:srgbClr val="1E293B"/>
                  </a:solidFill>
                  <a:latin typeface="Lato"/>
                  <a:ea typeface="Lato"/>
                  <a:cs typeface="Lato"/>
                  <a:sym typeface="Lato"/>
                </a:rPr>
                <a:t> (IP) AAA</a:t>
              </a:r>
              <a:r>
                <a:rPr lang="en-US" sz="1200" b="0" dirty="0">
                  <a:solidFill>
                    <a:srgbClr val="475569"/>
                  </a:solidFill>
                  <a:latin typeface="Lato"/>
                  <a:ea typeface="Lato"/>
                  <a:cs typeface="Lato"/>
                  <a:sym typeface="Lato"/>
                </a:rPr>
                <a:t> sur le </a:t>
              </a:r>
              <a:r>
                <a:rPr lang="en-US" sz="1200" b="0" dirty="0" err="1">
                  <a:solidFill>
                    <a:srgbClr val="475569"/>
                  </a:solidFill>
                  <a:latin typeface="Lato"/>
                  <a:ea typeface="Lato"/>
                  <a:cs typeface="Lato"/>
                  <a:sym typeface="Lato"/>
                </a:rPr>
                <a:t>marché</a:t>
              </a:r>
              <a:r>
                <a:rPr lang="en-US" sz="1200" b="0" dirty="0">
                  <a:solidFill>
                    <a:srgbClr val="475569"/>
                  </a:solidFill>
                  <a:latin typeface="Lato"/>
                  <a:ea typeface="Lato"/>
                  <a:cs typeface="Lato"/>
                  <a:sym typeface="Lato"/>
                </a:rPr>
                <a:t> Premium (Console/PC) capable de </a:t>
              </a:r>
              <a:r>
                <a:rPr lang="en-US" sz="1200" b="0" dirty="0" err="1">
                  <a:solidFill>
                    <a:srgbClr val="475569"/>
                  </a:solidFill>
                  <a:latin typeface="Lato"/>
                  <a:ea typeface="Lato"/>
                  <a:cs typeface="Lato"/>
                  <a:sym typeface="Lato"/>
                </a:rPr>
                <a:t>rivaliser</a:t>
              </a:r>
              <a:r>
                <a:rPr lang="en-US" sz="1200" b="0" dirty="0">
                  <a:solidFill>
                    <a:srgbClr val="475569"/>
                  </a:solidFill>
                  <a:latin typeface="Lato"/>
                  <a:ea typeface="Lato"/>
                  <a:cs typeface="Lato"/>
                  <a:sym typeface="Lato"/>
                </a:rPr>
                <a:t> avec les leaders </a:t>
              </a:r>
              <a:r>
                <a:rPr lang="en-US" sz="1200" b="0" dirty="0" err="1">
                  <a:solidFill>
                    <a:srgbClr val="475569"/>
                  </a:solidFill>
                  <a:latin typeface="Lato"/>
                  <a:ea typeface="Lato"/>
                  <a:cs typeface="Lato"/>
                  <a:sym typeface="Lato"/>
                </a:rPr>
                <a:t>historiques</a:t>
              </a:r>
              <a:r>
                <a:rPr lang="en-US" sz="1200" b="0" dirty="0">
                  <a:solidFill>
                    <a:srgbClr val="475569"/>
                  </a:solidFill>
                  <a:latin typeface="Lato"/>
                  <a:ea typeface="Lato"/>
                  <a:cs typeface="Lato"/>
                  <a:sym typeface="Lato"/>
                </a:rPr>
                <a:t> de </a:t>
              </a:r>
              <a:r>
                <a:rPr lang="en-US" sz="1200" b="0" dirty="0" err="1">
                  <a:solidFill>
                    <a:srgbClr val="475569"/>
                  </a:solidFill>
                  <a:latin typeface="Lato"/>
                  <a:ea typeface="Lato"/>
                  <a:cs typeface="Lato"/>
                  <a:sym typeface="Lato"/>
                </a:rPr>
                <a:t>l'industrie</a:t>
              </a:r>
              <a:r>
                <a:rPr lang="en-US" sz="1200" b="0" dirty="0">
                  <a:solidFill>
                    <a:srgbClr val="475569"/>
                  </a:solidFill>
                  <a:latin typeface="Lato"/>
                  <a:ea typeface="Lato"/>
                  <a:cs typeface="Lato"/>
                  <a:sym typeface="Lato"/>
                </a:rPr>
                <a:t>.</a:t>
              </a:r>
              <a:endParaRPr sz="1200" b="0" dirty="0">
                <a:solidFill>
                  <a:srgbClr val="475569"/>
                </a:solidFill>
                <a:latin typeface="Lato"/>
                <a:ea typeface="Lato"/>
                <a:cs typeface="Lato"/>
                <a:sym typeface="Lato"/>
              </a:endParaRPr>
            </a:p>
          </p:txBody>
        </p:sp>
        <p:sp>
          <p:nvSpPr>
            <p:cNvPr id="166" name="Google Shape;166;p25"/>
            <p:cNvSpPr txBox="1"/>
            <p:nvPr/>
          </p:nvSpPr>
          <p:spPr>
            <a:xfrm>
              <a:off x="4651343" y="2114550"/>
              <a:ext cx="2889300" cy="3524400"/>
            </a:xfrm>
            <a:prstGeom prst="rect">
              <a:avLst/>
            </a:prstGeom>
            <a:noFill/>
            <a:ln>
              <a:noFill/>
            </a:ln>
          </p:spPr>
          <p:txBody>
            <a:bodyPr spcFirstLastPara="1" wrap="square" lIns="0" tIns="0" rIns="0" bIns="0" anchor="t" anchorCtr="0">
              <a:noAutofit/>
            </a:bodyPr>
            <a:lstStyle/>
            <a:p>
              <a:pPr marL="0" lvl="0" indent="0" algn="ctr" rtl="0">
                <a:spcBef>
                  <a:spcPts val="1500"/>
                </a:spcBef>
                <a:spcAft>
                  <a:spcPts val="0"/>
                </a:spcAft>
                <a:buNone/>
              </a:pPr>
              <a:endParaRPr lang="en-US" sz="1800" b="1" dirty="0">
                <a:solidFill>
                  <a:srgbClr val="0F172A"/>
                </a:solidFill>
                <a:latin typeface="Poppins"/>
                <a:ea typeface="Poppins"/>
                <a:cs typeface="Poppins"/>
                <a:sym typeface="Poppins"/>
              </a:endParaRPr>
            </a:p>
            <a:p>
              <a:pPr marL="0" lvl="0" indent="0" algn="ctr" rtl="0">
                <a:spcBef>
                  <a:spcPts val="1500"/>
                </a:spcBef>
                <a:spcAft>
                  <a:spcPts val="0"/>
                </a:spcAft>
                <a:buNone/>
              </a:pPr>
              <a:r>
                <a:rPr lang="en-US" sz="1800" b="1" dirty="0" err="1">
                  <a:solidFill>
                    <a:srgbClr val="0F172A"/>
                  </a:solidFill>
                  <a:latin typeface="Poppins"/>
                  <a:ea typeface="Poppins"/>
                  <a:cs typeface="Poppins"/>
                  <a:sym typeface="Poppins"/>
                </a:rPr>
                <a:t>L'Enjeu</a:t>
              </a:r>
              <a:r>
                <a:rPr lang="en-US" sz="1800" b="1" dirty="0">
                  <a:solidFill>
                    <a:srgbClr val="0F172A"/>
                  </a:solidFill>
                  <a:latin typeface="Poppins"/>
                  <a:ea typeface="Poppins"/>
                  <a:cs typeface="Poppins"/>
                  <a:sym typeface="Poppins"/>
                </a:rPr>
                <a:t> Financier</a:t>
              </a:r>
              <a:endParaRPr sz="1800" b="1" dirty="0">
                <a:solidFill>
                  <a:srgbClr val="0F172A"/>
                </a:solidFill>
                <a:latin typeface="Poppins"/>
                <a:ea typeface="Poppins"/>
                <a:cs typeface="Poppins"/>
                <a:sym typeface="Poppins"/>
              </a:endParaRPr>
            </a:p>
            <a:p>
              <a:pPr marL="0" lvl="0" indent="0" algn="l" rtl="0">
                <a:spcBef>
                  <a:spcPts val="750"/>
                </a:spcBef>
                <a:spcAft>
                  <a:spcPts val="0"/>
                </a:spcAft>
                <a:buNone/>
              </a:pPr>
              <a:r>
                <a:rPr lang="en-US" sz="1200" b="0" dirty="0">
                  <a:solidFill>
                    <a:srgbClr val="475569"/>
                  </a:solidFill>
                  <a:latin typeface="Lato"/>
                  <a:ea typeface="Lato"/>
                  <a:cs typeface="Lato"/>
                  <a:sym typeface="Lato"/>
                </a:rPr>
                <a:t>Assurer </a:t>
              </a:r>
              <a:r>
                <a:rPr lang="en-US" sz="1200" b="0" dirty="0" err="1">
                  <a:solidFill>
                    <a:srgbClr val="475569"/>
                  </a:solidFill>
                  <a:latin typeface="Lato"/>
                  <a:ea typeface="Lato"/>
                  <a:cs typeface="Lato"/>
                  <a:sym typeface="Lato"/>
                </a:rPr>
                <a:t>une</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rentabilité</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maximale</a:t>
              </a:r>
              <a:r>
                <a:rPr lang="en-US" sz="1200" b="0" dirty="0">
                  <a:solidFill>
                    <a:srgbClr val="475569"/>
                  </a:solidFill>
                  <a:latin typeface="Lato"/>
                  <a:ea typeface="Lato"/>
                  <a:cs typeface="Lato"/>
                  <a:sym typeface="Lato"/>
                </a:rPr>
                <a:t> dans un </a:t>
              </a:r>
              <a:r>
                <a:rPr lang="en-US" sz="1200" b="0" dirty="0" err="1">
                  <a:solidFill>
                    <a:srgbClr val="475569"/>
                  </a:solidFill>
                  <a:latin typeface="Lato"/>
                  <a:ea typeface="Lato"/>
                  <a:cs typeface="Lato"/>
                  <a:sym typeface="Lato"/>
                </a:rPr>
                <a:t>contexte</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d'inflation</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où</a:t>
              </a:r>
              <a:r>
                <a:rPr lang="en-US" sz="1200" b="0" dirty="0">
                  <a:solidFill>
                    <a:srgbClr val="475569"/>
                  </a:solidFill>
                  <a:latin typeface="Lato"/>
                  <a:ea typeface="Lato"/>
                  <a:cs typeface="Lato"/>
                  <a:sym typeface="Lato"/>
                </a:rPr>
                <a:t> les </a:t>
              </a:r>
              <a:r>
                <a:rPr lang="en-US" sz="1200" b="0" dirty="0" err="1">
                  <a:solidFill>
                    <a:srgbClr val="475569"/>
                  </a:solidFill>
                  <a:latin typeface="Lato"/>
                  <a:ea typeface="Lato"/>
                  <a:cs typeface="Lato"/>
                  <a:sym typeface="Lato"/>
                </a:rPr>
                <a:t>coûts</a:t>
              </a:r>
              <a:r>
                <a:rPr lang="en-US" sz="1200" b="0" dirty="0">
                  <a:solidFill>
                    <a:srgbClr val="475569"/>
                  </a:solidFill>
                  <a:latin typeface="Lato"/>
                  <a:ea typeface="Lato"/>
                  <a:cs typeface="Lato"/>
                  <a:sym typeface="Lato"/>
                </a:rPr>
                <a:t> de </a:t>
              </a:r>
              <a:r>
                <a:rPr lang="en-US" sz="1200" b="0" dirty="0" err="1">
                  <a:solidFill>
                    <a:srgbClr val="475569"/>
                  </a:solidFill>
                  <a:latin typeface="Lato"/>
                  <a:ea typeface="Lato"/>
                  <a:cs typeface="Lato"/>
                  <a:sym typeface="Lato"/>
                </a:rPr>
                <a:t>développement</a:t>
              </a:r>
              <a:r>
                <a:rPr lang="en-US" sz="1200" b="0" dirty="0">
                  <a:solidFill>
                    <a:srgbClr val="475569"/>
                  </a:solidFill>
                  <a:latin typeface="Lato"/>
                  <a:ea typeface="Lato"/>
                  <a:cs typeface="Lato"/>
                  <a:sym typeface="Lato"/>
                </a:rPr>
                <a:t> d'un jeu AAA </a:t>
              </a:r>
              <a:r>
                <a:rPr lang="en-US" sz="1200" b="0" dirty="0" err="1">
                  <a:solidFill>
                    <a:srgbClr val="475569"/>
                  </a:solidFill>
                  <a:latin typeface="Lato"/>
                  <a:ea typeface="Lato"/>
                  <a:cs typeface="Lato"/>
                  <a:sym typeface="Lato"/>
                </a:rPr>
                <a:t>dépassent</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régulièrement</a:t>
              </a:r>
              <a:r>
                <a:rPr lang="en-US" sz="1200" b="0" dirty="0">
                  <a:solidFill>
                    <a:srgbClr val="475569"/>
                  </a:solidFill>
                  <a:latin typeface="Lato"/>
                  <a:ea typeface="Lato"/>
                  <a:cs typeface="Lato"/>
                  <a:sym typeface="Lato"/>
                </a:rPr>
                <a:t> les </a:t>
              </a:r>
              <a:r>
                <a:rPr lang="en-US" sz="1200" b="1" dirty="0">
                  <a:solidFill>
                    <a:srgbClr val="1E293B"/>
                  </a:solidFill>
                  <a:latin typeface="Lato"/>
                  <a:ea typeface="Lato"/>
                  <a:cs typeface="Lato"/>
                  <a:sym typeface="Lato"/>
                </a:rPr>
                <a:t>100 millions de dollars</a:t>
              </a:r>
              <a:r>
                <a:rPr lang="en-US" sz="1200" b="0" dirty="0">
                  <a:solidFill>
                    <a:srgbClr val="475569"/>
                  </a:solidFill>
                  <a:latin typeface="Lato"/>
                  <a:ea typeface="Lato"/>
                  <a:cs typeface="Lato"/>
                  <a:sym typeface="Lato"/>
                </a:rPr>
                <a:t>.</a:t>
              </a:r>
              <a:endParaRPr sz="1200" b="0" dirty="0">
                <a:solidFill>
                  <a:srgbClr val="475569"/>
                </a:solidFill>
                <a:latin typeface="Lato"/>
                <a:ea typeface="Lato"/>
                <a:cs typeface="Lato"/>
                <a:sym typeface="Lato"/>
              </a:endParaRPr>
            </a:p>
          </p:txBody>
        </p:sp>
        <p:sp>
          <p:nvSpPr>
            <p:cNvPr id="167" name="Google Shape;167;p25"/>
            <p:cNvSpPr txBox="1"/>
            <p:nvPr/>
          </p:nvSpPr>
          <p:spPr>
            <a:xfrm>
              <a:off x="8302562" y="2114550"/>
              <a:ext cx="2889300" cy="3524400"/>
            </a:xfrm>
            <a:prstGeom prst="rect">
              <a:avLst/>
            </a:prstGeom>
            <a:noFill/>
            <a:ln>
              <a:noFill/>
            </a:ln>
          </p:spPr>
          <p:txBody>
            <a:bodyPr spcFirstLastPara="1" wrap="square" lIns="0" tIns="0" rIns="0" bIns="0" anchor="t" anchorCtr="0">
              <a:noAutofit/>
            </a:bodyPr>
            <a:lstStyle/>
            <a:p>
              <a:pPr marL="0" lvl="0" indent="0" algn="ctr" rtl="0">
                <a:spcBef>
                  <a:spcPts val="1500"/>
                </a:spcBef>
                <a:spcAft>
                  <a:spcPts val="0"/>
                </a:spcAft>
                <a:buNone/>
              </a:pPr>
              <a:endParaRPr lang="en-US" sz="1800" b="1" dirty="0">
                <a:solidFill>
                  <a:srgbClr val="0F172A"/>
                </a:solidFill>
                <a:latin typeface="Poppins"/>
                <a:ea typeface="Poppins"/>
                <a:cs typeface="Poppins"/>
                <a:sym typeface="Poppins"/>
              </a:endParaRPr>
            </a:p>
            <a:p>
              <a:pPr marL="0" lvl="0" indent="0" algn="ctr" rtl="0">
                <a:spcBef>
                  <a:spcPts val="1500"/>
                </a:spcBef>
                <a:spcAft>
                  <a:spcPts val="0"/>
                </a:spcAft>
                <a:buNone/>
              </a:pPr>
              <a:r>
                <a:rPr lang="en-US" sz="1800" b="1" dirty="0">
                  <a:solidFill>
                    <a:srgbClr val="0F172A"/>
                  </a:solidFill>
                  <a:latin typeface="Poppins"/>
                  <a:ea typeface="Poppins"/>
                  <a:cs typeface="Poppins"/>
                  <a:sym typeface="Poppins"/>
                </a:rPr>
                <a:t>La Démarche </a:t>
              </a:r>
              <a:r>
                <a:rPr lang="en-US" sz="1800" b="1" dirty="0" err="1">
                  <a:solidFill>
                    <a:srgbClr val="0F172A"/>
                  </a:solidFill>
                  <a:latin typeface="Poppins"/>
                  <a:ea typeface="Poppins"/>
                  <a:cs typeface="Poppins"/>
                  <a:sym typeface="Poppins"/>
                </a:rPr>
                <a:t>Stratégique</a:t>
              </a:r>
              <a:endParaRPr sz="1800" b="1" dirty="0">
                <a:solidFill>
                  <a:srgbClr val="0F172A"/>
                </a:solidFill>
                <a:latin typeface="Poppins"/>
                <a:ea typeface="Poppins"/>
                <a:cs typeface="Poppins"/>
                <a:sym typeface="Poppins"/>
              </a:endParaRPr>
            </a:p>
            <a:p>
              <a:pPr marL="0" lvl="0" indent="0" algn="l" rtl="0">
                <a:spcBef>
                  <a:spcPts val="750"/>
                </a:spcBef>
                <a:spcAft>
                  <a:spcPts val="0"/>
                </a:spcAft>
                <a:buNone/>
              </a:pPr>
              <a:r>
                <a:rPr lang="en-US" sz="1200" b="0" dirty="0" err="1">
                  <a:solidFill>
                    <a:srgbClr val="475569"/>
                  </a:solidFill>
                  <a:latin typeface="Lato"/>
                  <a:ea typeface="Lato"/>
                  <a:cs typeface="Lato"/>
                  <a:sym typeface="Lato"/>
                </a:rPr>
                <a:t>Minimiser</a:t>
              </a:r>
              <a:r>
                <a:rPr lang="en-US" sz="1200" b="0" dirty="0">
                  <a:solidFill>
                    <a:srgbClr val="475569"/>
                  </a:solidFill>
                  <a:latin typeface="Lato"/>
                  <a:ea typeface="Lato"/>
                  <a:cs typeface="Lato"/>
                  <a:sym typeface="Lato"/>
                </a:rPr>
                <a:t> les </a:t>
              </a:r>
              <a:r>
                <a:rPr lang="en-US" sz="1200" b="0" dirty="0" err="1">
                  <a:solidFill>
                    <a:srgbClr val="475569"/>
                  </a:solidFill>
                  <a:latin typeface="Lato"/>
                  <a:ea typeface="Lato"/>
                  <a:cs typeface="Lato"/>
                  <a:sym typeface="Lato"/>
                </a:rPr>
                <a:t>risques</a:t>
              </a:r>
              <a:r>
                <a:rPr lang="en-US" sz="1200" b="0" dirty="0">
                  <a:solidFill>
                    <a:srgbClr val="475569"/>
                  </a:solidFill>
                  <a:latin typeface="Lato"/>
                  <a:ea typeface="Lato"/>
                  <a:cs typeface="Lato"/>
                  <a:sym typeface="Lato"/>
                </a:rPr>
                <a:t> de </a:t>
              </a:r>
              <a:r>
                <a:rPr lang="en-US" sz="1200" b="0" dirty="0" err="1">
                  <a:solidFill>
                    <a:srgbClr val="475569"/>
                  </a:solidFill>
                  <a:latin typeface="Lato"/>
                  <a:ea typeface="Lato"/>
                  <a:cs typeface="Lato"/>
                  <a:sym typeface="Lato"/>
                </a:rPr>
                <a:t>lancement</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en</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s'appuyant</a:t>
              </a:r>
              <a:r>
                <a:rPr lang="en-US" sz="1200" b="0" dirty="0">
                  <a:solidFill>
                    <a:srgbClr val="475569"/>
                  </a:solidFill>
                  <a:latin typeface="Lato"/>
                  <a:ea typeface="Lato"/>
                  <a:cs typeface="Lato"/>
                  <a:sym typeface="Lato"/>
                </a:rPr>
                <a:t> sur </a:t>
              </a:r>
              <a:r>
                <a:rPr lang="en-US" sz="1200" b="0" dirty="0" err="1">
                  <a:solidFill>
                    <a:srgbClr val="475569"/>
                  </a:solidFill>
                  <a:latin typeface="Lato"/>
                  <a:ea typeface="Lato"/>
                  <a:cs typeface="Lato"/>
                  <a:sym typeface="Lato"/>
                </a:rPr>
                <a:t>une</a:t>
              </a:r>
              <a:r>
                <a:rPr lang="en-US" sz="1200" b="0" dirty="0">
                  <a:solidFill>
                    <a:srgbClr val="475569"/>
                  </a:solidFill>
                  <a:latin typeface="Lato"/>
                  <a:ea typeface="Lato"/>
                  <a:cs typeface="Lato"/>
                  <a:sym typeface="Lato"/>
                </a:rPr>
                <a:t> </a:t>
              </a:r>
              <a:r>
                <a:rPr lang="en-US" sz="1200" b="1" dirty="0" err="1">
                  <a:solidFill>
                    <a:srgbClr val="1E293B"/>
                  </a:solidFill>
                  <a:latin typeface="Lato"/>
                  <a:ea typeface="Lato"/>
                  <a:cs typeface="Lato"/>
                  <a:sym typeface="Lato"/>
                </a:rPr>
                <a:t>analyse</a:t>
              </a:r>
              <a:r>
                <a:rPr lang="en-US" sz="1200" b="1" dirty="0">
                  <a:solidFill>
                    <a:srgbClr val="1E293B"/>
                  </a:solidFill>
                  <a:latin typeface="Lato"/>
                  <a:ea typeface="Lato"/>
                  <a:cs typeface="Lato"/>
                  <a:sym typeface="Lato"/>
                </a:rPr>
                <a:t> Data </a:t>
              </a:r>
              <a:r>
                <a:rPr lang="en-US" sz="1200" b="1" dirty="0" err="1">
                  <a:solidFill>
                    <a:srgbClr val="1E293B"/>
                  </a:solidFill>
                  <a:latin typeface="Lato"/>
                  <a:ea typeface="Lato"/>
                  <a:cs typeface="Lato"/>
                  <a:sym typeface="Lato"/>
                </a:rPr>
                <a:t>stricte</a:t>
              </a:r>
              <a:r>
                <a:rPr lang="en-US" sz="1200" b="0" dirty="0">
                  <a:solidFill>
                    <a:srgbClr val="475569"/>
                  </a:solidFill>
                  <a:latin typeface="Lato"/>
                  <a:ea typeface="Lato"/>
                  <a:cs typeface="Lato"/>
                  <a:sym typeface="Lato"/>
                </a:rPr>
                <a:t> (1980-2022) </a:t>
              </a:r>
              <a:r>
                <a:rPr lang="en-US" sz="1200" b="0" dirty="0" err="1">
                  <a:solidFill>
                    <a:srgbClr val="475569"/>
                  </a:solidFill>
                  <a:latin typeface="Lato"/>
                  <a:ea typeface="Lato"/>
                  <a:cs typeface="Lato"/>
                  <a:sym typeface="Lato"/>
                </a:rPr>
                <a:t>croisée</a:t>
              </a:r>
              <a:r>
                <a:rPr lang="en-US" sz="1200" b="0" dirty="0">
                  <a:solidFill>
                    <a:srgbClr val="475569"/>
                  </a:solidFill>
                  <a:latin typeface="Lato"/>
                  <a:ea typeface="Lato"/>
                  <a:cs typeface="Lato"/>
                  <a:sym typeface="Lato"/>
                </a:rPr>
                <a:t> avec </a:t>
              </a:r>
              <a:r>
                <a:rPr lang="en-US" sz="1200" b="0" dirty="0" err="1">
                  <a:solidFill>
                    <a:srgbClr val="475569"/>
                  </a:solidFill>
                  <a:latin typeface="Lato"/>
                  <a:ea typeface="Lato"/>
                  <a:cs typeface="Lato"/>
                  <a:sym typeface="Lato"/>
                </a:rPr>
                <a:t>une</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veille</a:t>
              </a:r>
              <a:r>
                <a:rPr lang="en-US" sz="1200" b="0" dirty="0">
                  <a:solidFill>
                    <a:srgbClr val="475569"/>
                  </a:solidFill>
                  <a:latin typeface="Lato"/>
                  <a:ea typeface="Lato"/>
                  <a:cs typeface="Lato"/>
                  <a:sym typeface="Lato"/>
                </a:rPr>
                <a:t> macro-</a:t>
              </a:r>
              <a:r>
                <a:rPr lang="en-US" sz="1200" b="0" dirty="0" err="1">
                  <a:solidFill>
                    <a:srgbClr val="475569"/>
                  </a:solidFill>
                  <a:latin typeface="Lato"/>
                  <a:ea typeface="Lato"/>
                  <a:cs typeface="Lato"/>
                  <a:sym typeface="Lato"/>
                </a:rPr>
                <a:t>économique</a:t>
              </a:r>
              <a:r>
                <a:rPr lang="en-US" sz="1200" b="0" dirty="0">
                  <a:solidFill>
                    <a:srgbClr val="475569"/>
                  </a:solidFill>
                  <a:latin typeface="Lato"/>
                  <a:ea typeface="Lato"/>
                  <a:cs typeface="Lato"/>
                  <a:sym typeface="Lato"/>
                </a:rPr>
                <a:t> </a:t>
              </a:r>
              <a:r>
                <a:rPr lang="en-US" sz="1200" b="0" dirty="0" err="1">
                  <a:solidFill>
                    <a:srgbClr val="475569"/>
                  </a:solidFill>
                  <a:latin typeface="Lato"/>
                  <a:ea typeface="Lato"/>
                  <a:cs typeface="Lato"/>
                  <a:sym typeface="Lato"/>
                </a:rPr>
                <a:t>exper</a:t>
              </a:r>
              <a:r>
                <a:rPr lang="en-US" sz="1200" b="0" dirty="0">
                  <a:solidFill>
                    <a:srgbClr val="475569"/>
                  </a:solidFill>
                  <a:latin typeface="Lato"/>
                  <a:ea typeface="Lato"/>
                  <a:cs typeface="Lato"/>
                  <a:sym typeface="Lato"/>
                </a:rPr>
                <a:t>.</a:t>
              </a:r>
              <a:endParaRPr sz="1200" b="0" dirty="0">
                <a:solidFill>
                  <a:srgbClr val="475569"/>
                </a:solidFill>
                <a:latin typeface="Lato"/>
                <a:ea typeface="Lato"/>
                <a:cs typeface="Lato"/>
                <a:sym typeface="Lato"/>
              </a:endParaRPr>
            </a:p>
          </p:txBody>
        </p:sp>
      </p:grpSp>
      <p:pic>
        <p:nvPicPr>
          <p:cNvPr id="3" name="Image 2">
            <a:extLst>
              <a:ext uri="{FF2B5EF4-FFF2-40B4-BE49-F238E27FC236}">
                <a16:creationId xmlns:a16="http://schemas.microsoft.com/office/drawing/2014/main" id="{20E330B5-6B80-91AD-4A44-3D65A967A127}"/>
              </a:ext>
            </a:extLst>
          </p:cNvPr>
          <p:cNvPicPr>
            <a:picLocks noChangeAspect="1"/>
          </p:cNvPicPr>
          <p:nvPr/>
        </p:nvPicPr>
        <p:blipFill>
          <a:blip r:embed="rId7"/>
          <a:stretch>
            <a:fillRect/>
          </a:stretch>
        </p:blipFill>
        <p:spPr>
          <a:xfrm>
            <a:off x="3054184" y="2141368"/>
            <a:ext cx="590632" cy="600159"/>
          </a:xfrm>
          <a:prstGeom prst="rect">
            <a:avLst/>
          </a:prstGeom>
        </p:spPr>
      </p:pic>
      <p:pic>
        <p:nvPicPr>
          <p:cNvPr id="5" name="Image 4">
            <a:extLst>
              <a:ext uri="{FF2B5EF4-FFF2-40B4-BE49-F238E27FC236}">
                <a16:creationId xmlns:a16="http://schemas.microsoft.com/office/drawing/2014/main" id="{16236E42-568E-BB40-AEE0-416031475A6D}"/>
              </a:ext>
            </a:extLst>
          </p:cNvPr>
          <p:cNvPicPr>
            <a:picLocks noChangeAspect="1"/>
          </p:cNvPicPr>
          <p:nvPr/>
        </p:nvPicPr>
        <p:blipFill>
          <a:blip r:embed="rId8"/>
          <a:stretch>
            <a:fillRect/>
          </a:stretch>
        </p:blipFill>
        <p:spPr>
          <a:xfrm>
            <a:off x="6630784" y="2212848"/>
            <a:ext cx="654786" cy="528679"/>
          </a:xfrm>
          <a:prstGeom prst="rect">
            <a:avLst/>
          </a:prstGeom>
        </p:spPr>
      </p:pic>
      <p:pic>
        <p:nvPicPr>
          <p:cNvPr id="9" name="Image 8">
            <a:extLst>
              <a:ext uri="{FF2B5EF4-FFF2-40B4-BE49-F238E27FC236}">
                <a16:creationId xmlns:a16="http://schemas.microsoft.com/office/drawing/2014/main" id="{8EEA4520-CEF2-6279-8D6F-1E62A9F51B88}"/>
              </a:ext>
            </a:extLst>
          </p:cNvPr>
          <p:cNvPicPr>
            <a:picLocks noChangeAspect="1"/>
          </p:cNvPicPr>
          <p:nvPr/>
        </p:nvPicPr>
        <p:blipFill>
          <a:blip r:embed="rId9"/>
          <a:stretch>
            <a:fillRect/>
          </a:stretch>
        </p:blipFill>
        <p:spPr>
          <a:xfrm>
            <a:off x="10202584" y="2174777"/>
            <a:ext cx="751817" cy="533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172" name="Google Shape;172;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3" name="Google Shape;173;p26" descr="image.png"/>
          <p:cNvPicPr preferRelativeResize="0"/>
          <p:nvPr/>
        </p:nvPicPr>
        <p:blipFill rotWithShape="1">
          <a:blip r:embed="rId4">
            <a:alphaModFix/>
          </a:blip>
          <a:srcRect/>
          <a:stretch/>
        </p:blipFill>
        <p:spPr>
          <a:xfrm>
            <a:off x="762000" y="1876425"/>
            <a:ext cx="5214937" cy="2121693"/>
          </a:xfrm>
          <a:prstGeom prst="rect">
            <a:avLst/>
          </a:prstGeom>
          <a:noFill/>
          <a:ln>
            <a:noFill/>
          </a:ln>
        </p:spPr>
      </p:pic>
      <p:pic>
        <p:nvPicPr>
          <p:cNvPr id="174" name="Google Shape;174;p26" descr="image.png"/>
          <p:cNvPicPr preferRelativeResize="0"/>
          <p:nvPr/>
        </p:nvPicPr>
        <p:blipFill rotWithShape="1">
          <a:blip r:embed="rId5">
            <a:alphaModFix/>
          </a:blip>
          <a:srcRect/>
          <a:stretch/>
        </p:blipFill>
        <p:spPr>
          <a:xfrm>
            <a:off x="6215062" y="1876425"/>
            <a:ext cx="5214937" cy="2121693"/>
          </a:xfrm>
          <a:prstGeom prst="rect">
            <a:avLst/>
          </a:prstGeom>
          <a:noFill/>
          <a:ln>
            <a:noFill/>
          </a:ln>
        </p:spPr>
      </p:pic>
      <p:pic>
        <p:nvPicPr>
          <p:cNvPr id="175" name="Google Shape;175;p26" descr="image.png"/>
          <p:cNvPicPr preferRelativeResize="0"/>
          <p:nvPr/>
        </p:nvPicPr>
        <p:blipFill rotWithShape="1">
          <a:blip r:embed="rId6">
            <a:alphaModFix/>
          </a:blip>
          <a:srcRect/>
          <a:stretch/>
        </p:blipFill>
        <p:spPr>
          <a:xfrm>
            <a:off x="762000" y="4236243"/>
            <a:ext cx="5214937" cy="2121693"/>
          </a:xfrm>
          <a:prstGeom prst="rect">
            <a:avLst/>
          </a:prstGeom>
          <a:noFill/>
          <a:ln>
            <a:noFill/>
          </a:ln>
        </p:spPr>
      </p:pic>
      <p:pic>
        <p:nvPicPr>
          <p:cNvPr id="176" name="Google Shape;176;p26" descr="image.png"/>
          <p:cNvPicPr preferRelativeResize="0"/>
          <p:nvPr/>
        </p:nvPicPr>
        <p:blipFill rotWithShape="1">
          <a:blip r:embed="rId7">
            <a:alphaModFix/>
          </a:blip>
          <a:srcRect/>
          <a:stretch/>
        </p:blipFill>
        <p:spPr>
          <a:xfrm>
            <a:off x="6215062" y="4236243"/>
            <a:ext cx="5214937" cy="2121693"/>
          </a:xfrm>
          <a:prstGeom prst="rect">
            <a:avLst/>
          </a:prstGeom>
          <a:noFill/>
          <a:ln>
            <a:noFill/>
          </a:ln>
        </p:spPr>
      </p:pic>
      <p:sp>
        <p:nvSpPr>
          <p:cNvPr id="177" name="Google Shape;177;p26"/>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Tendances Actuelles : Marché &amp; Consommateurs</a:t>
            </a:r>
            <a:endParaRPr/>
          </a:p>
        </p:txBody>
      </p:sp>
      <p:sp>
        <p:nvSpPr>
          <p:cNvPr id="178" name="Google Shape;178;p26"/>
          <p:cNvSpPr txBox="1"/>
          <p:nvPr/>
        </p:nvSpPr>
        <p:spPr>
          <a:xfrm>
            <a:off x="762000" y="1266825"/>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Lato"/>
                <a:ea typeface="Lato"/>
                <a:cs typeface="Lato"/>
                <a:sym typeface="Lato"/>
              </a:rPr>
              <a:t>Un marché mature, consolidé et extrêmement exigeant qualitativement.</a:t>
            </a:r>
            <a:endParaRPr/>
          </a:p>
        </p:txBody>
      </p:sp>
      <p:sp>
        <p:nvSpPr>
          <p:cNvPr id="179" name="Google Shape;179;p26"/>
          <p:cNvSpPr txBox="1"/>
          <p:nvPr/>
        </p:nvSpPr>
        <p:spPr>
          <a:xfrm>
            <a:off x="1485900" y="2209800"/>
            <a:ext cx="44055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F172A"/>
                </a:solidFill>
                <a:latin typeface="Poppins"/>
                <a:ea typeface="Poppins"/>
                <a:cs typeface="Poppins"/>
                <a:sym typeface="Poppins"/>
              </a:rPr>
              <a:t>Le Profil Démographique</a:t>
            </a:r>
            <a:endParaRPr/>
          </a:p>
        </p:txBody>
      </p:sp>
      <p:sp>
        <p:nvSpPr>
          <p:cNvPr id="180" name="Google Shape;180;p26"/>
          <p:cNvSpPr txBox="1"/>
          <p:nvPr/>
        </p:nvSpPr>
        <p:spPr>
          <a:xfrm>
            <a:off x="1057275" y="2667000"/>
            <a:ext cx="4624500" cy="1137900"/>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475569"/>
                </a:solidFill>
                <a:latin typeface="Lato"/>
                <a:ea typeface="Lato"/>
                <a:cs typeface="Lato"/>
                <a:sym typeface="Lato"/>
              </a:rPr>
              <a:t>Le stéréotype de l'adolescent est révolu. L'âge moyen du joueur </a:t>
            </a:r>
            <a:r>
              <a:rPr lang="en-US" sz="1275" b="1" i="0" u="none" strike="noStrike" cap="none">
                <a:solidFill>
                  <a:srgbClr val="1E293B"/>
                </a:solidFill>
                <a:latin typeface="Lato"/>
                <a:ea typeface="Lato"/>
                <a:cs typeface="Lato"/>
                <a:sym typeface="Lato"/>
              </a:rPr>
              <a:t>dépasse les 30 ans</a:t>
            </a:r>
            <a:r>
              <a:rPr lang="en-US" sz="1275" b="0" i="0" u="none" strike="noStrike" cap="none">
                <a:solidFill>
                  <a:srgbClr val="475569"/>
                </a:solidFill>
                <a:latin typeface="Lato"/>
                <a:ea typeface="Lato"/>
                <a:cs typeface="Lato"/>
                <a:sym typeface="Lato"/>
              </a:rPr>
              <a:t>. Cette cible dispose d'un fort pouvoir d'achat, justifiant l'acceptation de jeux vendus à 70€-80€ s'ils offrent une qualité "Premium".</a:t>
            </a:r>
            <a:endParaRPr/>
          </a:p>
        </p:txBody>
      </p:sp>
      <p:sp>
        <p:nvSpPr>
          <p:cNvPr id="181" name="Google Shape;181;p26"/>
          <p:cNvSpPr txBox="1"/>
          <p:nvPr/>
        </p:nvSpPr>
        <p:spPr>
          <a:xfrm>
            <a:off x="6900862" y="2209800"/>
            <a:ext cx="44457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F172A"/>
                </a:solidFill>
                <a:latin typeface="Poppins"/>
                <a:ea typeface="Poppins"/>
                <a:cs typeface="Poppins"/>
                <a:sym typeface="Poppins"/>
              </a:rPr>
              <a:t>La Prime à l'Excellence (Metacritic)</a:t>
            </a:r>
            <a:endParaRPr/>
          </a:p>
        </p:txBody>
      </p:sp>
      <p:sp>
        <p:nvSpPr>
          <p:cNvPr id="182" name="Google Shape;182;p26"/>
          <p:cNvSpPr txBox="1"/>
          <p:nvPr/>
        </p:nvSpPr>
        <p:spPr>
          <a:xfrm>
            <a:off x="6510337" y="2667000"/>
            <a:ext cx="4624500" cy="1137900"/>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475569"/>
                </a:solidFill>
                <a:latin typeface="Lato"/>
                <a:ea typeface="Lato"/>
                <a:cs typeface="Lato"/>
                <a:sym typeface="Lato"/>
              </a:rPr>
              <a:t>Les données prouvent que le succès d'un jeu AAA est corrélé à sa réception critique. Historiquement, un jeu génère de très fortes ventes mondiales uniquement s'il obtient un </a:t>
            </a:r>
            <a:r>
              <a:rPr lang="en-US" sz="1275" b="1" i="0" u="none" strike="noStrike" cap="none">
                <a:solidFill>
                  <a:srgbClr val="1E293B"/>
                </a:solidFill>
                <a:latin typeface="Lato"/>
                <a:ea typeface="Lato"/>
                <a:cs typeface="Lato"/>
                <a:sym typeface="Lato"/>
              </a:rPr>
              <a:t>score Metacritic supérieur à 80/100</a:t>
            </a:r>
            <a:r>
              <a:rPr lang="en-US" sz="1275" b="0" i="0" u="none" strike="noStrike" cap="none">
                <a:solidFill>
                  <a:srgbClr val="475569"/>
                </a:solidFill>
                <a:latin typeface="Lato"/>
                <a:ea typeface="Lato"/>
                <a:cs typeface="Lato"/>
                <a:sym typeface="Lato"/>
              </a:rPr>
              <a:t>.</a:t>
            </a:r>
            <a:endParaRPr/>
          </a:p>
        </p:txBody>
      </p:sp>
      <p:sp>
        <p:nvSpPr>
          <p:cNvPr id="183" name="Google Shape;183;p26"/>
          <p:cNvSpPr txBox="1"/>
          <p:nvPr/>
        </p:nvSpPr>
        <p:spPr>
          <a:xfrm>
            <a:off x="1447800" y="4699099"/>
            <a:ext cx="44457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F172A"/>
                </a:solidFill>
                <a:latin typeface="Poppins"/>
                <a:ea typeface="Poppins"/>
                <a:cs typeface="Poppins"/>
                <a:sym typeface="Poppins"/>
              </a:rPr>
              <a:t>La Mutation vers le Digital</a:t>
            </a:r>
            <a:endParaRPr/>
          </a:p>
        </p:txBody>
      </p:sp>
      <p:sp>
        <p:nvSpPr>
          <p:cNvPr id="184" name="Google Shape;184;p26"/>
          <p:cNvSpPr txBox="1"/>
          <p:nvPr/>
        </p:nvSpPr>
        <p:spPr>
          <a:xfrm>
            <a:off x="1057275" y="5156299"/>
            <a:ext cx="4624500" cy="824100"/>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475569"/>
                </a:solidFill>
                <a:latin typeface="Lato"/>
                <a:ea typeface="Lato"/>
                <a:cs typeface="Lato"/>
                <a:sym typeface="Lato"/>
              </a:rPr>
              <a:t>La baisse des ventes physiques (visibles dans l'analyse historique) cache en réalité un transfert massif vers les stores dématérialisés (PS Store, Steam). Les </a:t>
            </a:r>
            <a:r>
              <a:rPr lang="en-US" sz="1275" b="1" i="0" u="none" strike="noStrike" cap="none">
                <a:solidFill>
                  <a:srgbClr val="1E293B"/>
                </a:solidFill>
                <a:latin typeface="Lato"/>
                <a:ea typeface="Lato"/>
                <a:cs typeface="Lato"/>
                <a:sym typeface="Lato"/>
              </a:rPr>
              <a:t>revenus globaux par joueur ont augmenté</a:t>
            </a:r>
            <a:r>
              <a:rPr lang="en-US" sz="1275" b="0" i="0" u="none" strike="noStrike" cap="none">
                <a:solidFill>
                  <a:srgbClr val="475569"/>
                </a:solidFill>
                <a:latin typeface="Lato"/>
                <a:ea typeface="Lato"/>
                <a:cs typeface="Lato"/>
                <a:sym typeface="Lato"/>
              </a:rPr>
              <a:t>.</a:t>
            </a:r>
            <a:endParaRPr/>
          </a:p>
        </p:txBody>
      </p:sp>
      <p:sp>
        <p:nvSpPr>
          <p:cNvPr id="185" name="Google Shape;185;p26"/>
          <p:cNvSpPr txBox="1"/>
          <p:nvPr/>
        </p:nvSpPr>
        <p:spPr>
          <a:xfrm>
            <a:off x="6938962" y="4569618"/>
            <a:ext cx="4405500" cy="2541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F172A"/>
                </a:solidFill>
                <a:latin typeface="Poppins"/>
                <a:ea typeface="Poppins"/>
                <a:cs typeface="Poppins"/>
                <a:sym typeface="Poppins"/>
              </a:rPr>
              <a:t>Domination de l'Action &amp; Shooters</a:t>
            </a:r>
            <a:endParaRPr/>
          </a:p>
        </p:txBody>
      </p:sp>
      <p:sp>
        <p:nvSpPr>
          <p:cNvPr id="186" name="Google Shape;186;p26"/>
          <p:cNvSpPr txBox="1"/>
          <p:nvPr/>
        </p:nvSpPr>
        <p:spPr>
          <a:xfrm>
            <a:off x="6510337" y="5026818"/>
            <a:ext cx="4624500" cy="1137900"/>
          </a:xfrm>
          <a:prstGeom prst="rect">
            <a:avLst/>
          </a:prstGeom>
          <a:noFill/>
          <a:ln>
            <a:noFill/>
          </a:ln>
        </p:spPr>
        <p:txBody>
          <a:bodyPr spcFirstLastPara="1" wrap="square" lIns="0" tIns="0" rIns="0" bIns="0" anchor="t" anchorCtr="0">
            <a:spAutoFit/>
          </a:bodyPr>
          <a:lstStyle/>
          <a:p>
            <a:pPr marL="0" marR="0" lvl="0" indent="0" algn="l" rtl="0">
              <a:lnSpc>
                <a:spcPct val="159921"/>
              </a:lnSpc>
              <a:spcBef>
                <a:spcPts val="0"/>
              </a:spcBef>
              <a:spcAft>
                <a:spcPts val="0"/>
              </a:spcAft>
              <a:buNone/>
            </a:pPr>
            <a:r>
              <a:rPr lang="en-US" sz="1275" b="0" i="0" u="none" strike="noStrike" cap="none">
                <a:solidFill>
                  <a:srgbClr val="475569"/>
                </a:solidFill>
                <a:latin typeface="Lato"/>
                <a:ea typeface="Lato"/>
                <a:cs typeface="Lato"/>
                <a:sym typeface="Lato"/>
              </a:rPr>
              <a:t>Les genres de niche disparaissent du segment AAA. Historiquement, l'</a:t>
            </a:r>
            <a:r>
              <a:rPr lang="en-US" sz="1275" b="1" i="0" u="none" strike="noStrike" cap="none">
                <a:solidFill>
                  <a:srgbClr val="1E293B"/>
                </a:solidFill>
                <a:latin typeface="Lato"/>
                <a:ea typeface="Lato"/>
                <a:cs typeface="Lato"/>
                <a:sym typeface="Lato"/>
              </a:rPr>
              <a:t>Action, l'Aventure et les Shooters</a:t>
            </a:r>
            <a:r>
              <a:rPr lang="en-US" sz="1275" b="0" i="0" u="none" strike="noStrike" cap="none">
                <a:solidFill>
                  <a:srgbClr val="475569"/>
                </a:solidFill>
                <a:latin typeface="Lato"/>
                <a:ea typeface="Lato"/>
                <a:cs typeface="Lato"/>
                <a:sym typeface="Lato"/>
              </a:rPr>
              <a:t> captent la quasi-totalité des investissements lourds, car ce sont les seuls à garantir un Retour sur Investissement (ROI) massif.</a:t>
            </a:r>
            <a:endParaRPr/>
          </a:p>
        </p:txBody>
      </p:sp>
      <p:pic>
        <p:nvPicPr>
          <p:cNvPr id="187" name="Google Shape;187;p26" descr="image.png"/>
          <p:cNvPicPr preferRelativeResize="0"/>
          <p:nvPr/>
        </p:nvPicPr>
        <p:blipFill rotWithShape="1">
          <a:blip r:embed="rId8">
            <a:alphaModFix/>
          </a:blip>
          <a:srcRect/>
          <a:stretch/>
        </p:blipFill>
        <p:spPr>
          <a:xfrm>
            <a:off x="1057275" y="2243137"/>
            <a:ext cx="314325" cy="247650"/>
          </a:xfrm>
          <a:prstGeom prst="rect">
            <a:avLst/>
          </a:prstGeom>
          <a:noFill/>
          <a:ln>
            <a:noFill/>
          </a:ln>
        </p:spPr>
      </p:pic>
      <p:pic>
        <p:nvPicPr>
          <p:cNvPr id="188" name="Google Shape;188;p26" descr="image.png"/>
          <p:cNvPicPr preferRelativeResize="0"/>
          <p:nvPr/>
        </p:nvPicPr>
        <p:blipFill rotWithShape="1">
          <a:blip r:embed="rId9">
            <a:alphaModFix/>
          </a:blip>
          <a:srcRect/>
          <a:stretch/>
        </p:blipFill>
        <p:spPr>
          <a:xfrm>
            <a:off x="6510337" y="2243137"/>
            <a:ext cx="276225" cy="247650"/>
          </a:xfrm>
          <a:prstGeom prst="rect">
            <a:avLst/>
          </a:prstGeom>
          <a:noFill/>
          <a:ln>
            <a:noFill/>
          </a:ln>
        </p:spPr>
      </p:pic>
      <p:pic>
        <p:nvPicPr>
          <p:cNvPr id="189" name="Google Shape;189;p26" descr="image.png"/>
          <p:cNvPicPr preferRelativeResize="0"/>
          <p:nvPr/>
        </p:nvPicPr>
        <p:blipFill rotWithShape="1">
          <a:blip r:embed="rId10">
            <a:alphaModFix/>
          </a:blip>
          <a:srcRect/>
          <a:stretch/>
        </p:blipFill>
        <p:spPr>
          <a:xfrm>
            <a:off x="1057275" y="4732436"/>
            <a:ext cx="276225" cy="247650"/>
          </a:xfrm>
          <a:prstGeom prst="rect">
            <a:avLst/>
          </a:prstGeom>
          <a:noFill/>
          <a:ln>
            <a:noFill/>
          </a:ln>
        </p:spPr>
      </p:pic>
      <p:pic>
        <p:nvPicPr>
          <p:cNvPr id="190" name="Google Shape;190;p26" descr="image.png"/>
          <p:cNvPicPr preferRelativeResize="0"/>
          <p:nvPr/>
        </p:nvPicPr>
        <p:blipFill rotWithShape="1">
          <a:blip r:embed="rId11">
            <a:alphaModFix/>
          </a:blip>
          <a:srcRect/>
          <a:stretch/>
        </p:blipFill>
        <p:spPr>
          <a:xfrm>
            <a:off x="6510337" y="4602956"/>
            <a:ext cx="314325" cy="247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4"/>
        <p:cNvGrpSpPr/>
        <p:nvPr/>
      </p:nvGrpSpPr>
      <p:grpSpPr>
        <a:xfrm>
          <a:off x="0" y="0"/>
          <a:ext cx="0" cy="0"/>
          <a:chOff x="0" y="0"/>
          <a:chExt cx="0" cy="0"/>
        </a:xfrm>
      </p:grpSpPr>
      <p:pic>
        <p:nvPicPr>
          <p:cNvPr id="195" name="Google Shape;195;p27" descr="image.png"/>
          <p:cNvPicPr preferRelativeResize="0"/>
          <p:nvPr/>
        </p:nvPicPr>
        <p:blipFill rotWithShape="1">
          <a:blip r:embed="rId3">
            <a:alphaModFix/>
          </a:blip>
          <a:srcRect/>
          <a:stretch/>
        </p:blipFill>
        <p:spPr>
          <a:xfrm>
            <a:off x="0" y="47600"/>
            <a:ext cx="12192000" cy="6490360"/>
          </a:xfrm>
          <a:prstGeom prst="rect">
            <a:avLst/>
          </a:prstGeom>
          <a:noFill/>
          <a:ln>
            <a:noFill/>
          </a:ln>
        </p:spPr>
      </p:pic>
      <p:sp>
        <p:nvSpPr>
          <p:cNvPr id="196" name="Google Shape;196;p27"/>
          <p:cNvSpPr txBox="1"/>
          <p:nvPr/>
        </p:nvSpPr>
        <p:spPr>
          <a:xfrm>
            <a:off x="263657" y="128357"/>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err="1">
                <a:solidFill>
                  <a:srgbClr val="0F172A"/>
                </a:solidFill>
                <a:latin typeface="+mj-lt"/>
                <a:ea typeface="Poppins"/>
                <a:cs typeface="Poppins"/>
                <a:sym typeface="Poppins"/>
              </a:rPr>
              <a:t>Évolution</a:t>
            </a:r>
            <a:r>
              <a:rPr lang="en-US" sz="3150" b="1" i="0" u="none" strike="noStrike" cap="none" dirty="0">
                <a:solidFill>
                  <a:srgbClr val="0F172A"/>
                </a:solidFill>
                <a:latin typeface="+mj-lt"/>
                <a:ea typeface="Poppins"/>
                <a:cs typeface="Poppins"/>
                <a:sym typeface="Poppins"/>
              </a:rPr>
              <a:t> du Marché : Le </a:t>
            </a:r>
            <a:r>
              <a:rPr lang="en-US" sz="3150" b="1" i="0" u="none" strike="noStrike" cap="none" dirty="0" err="1">
                <a:solidFill>
                  <a:srgbClr val="0F172A"/>
                </a:solidFill>
                <a:latin typeface="+mj-lt"/>
                <a:ea typeface="Poppins"/>
                <a:cs typeface="Poppins"/>
                <a:sym typeface="Poppins"/>
              </a:rPr>
              <a:t>Biais</a:t>
            </a:r>
            <a:r>
              <a:rPr lang="en-US" sz="3150" b="1" i="0" u="none" strike="noStrike" cap="none" dirty="0">
                <a:solidFill>
                  <a:srgbClr val="0F172A"/>
                </a:solidFill>
                <a:latin typeface="+mj-lt"/>
                <a:ea typeface="Poppins"/>
                <a:cs typeface="Poppins"/>
                <a:sym typeface="Poppins"/>
              </a:rPr>
              <a:t> du Physique</a:t>
            </a:r>
            <a:endParaRPr dirty="0">
              <a:latin typeface="+mj-lt"/>
            </a:endParaRPr>
          </a:p>
        </p:txBody>
      </p:sp>
      <p:sp>
        <p:nvSpPr>
          <p:cNvPr id="197" name="Google Shape;197;p27"/>
          <p:cNvSpPr txBox="1"/>
          <p:nvPr/>
        </p:nvSpPr>
        <p:spPr>
          <a:xfrm>
            <a:off x="504377" y="723800"/>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Lato"/>
                <a:ea typeface="Lato"/>
                <a:cs typeface="Lato"/>
                <a:sym typeface="Lato"/>
              </a:rPr>
              <a:t>Décryptage de la courbe des ventes globales et compréhension de la transition numérique.</a:t>
            </a:r>
            <a:endParaRPr/>
          </a:p>
        </p:txBody>
      </p:sp>
      <p:pic>
        <p:nvPicPr>
          <p:cNvPr id="198" name="Google Shape;198;p27" descr="image.png"/>
          <p:cNvPicPr preferRelativeResize="0"/>
          <p:nvPr/>
        </p:nvPicPr>
        <p:blipFill rotWithShape="1">
          <a:blip r:embed="rId4">
            <a:alphaModFix/>
          </a:blip>
          <a:srcRect/>
          <a:stretch/>
        </p:blipFill>
        <p:spPr>
          <a:xfrm>
            <a:off x="263657" y="2175833"/>
            <a:ext cx="342900" cy="283037"/>
          </a:xfrm>
          <a:prstGeom prst="rect">
            <a:avLst/>
          </a:prstGeom>
          <a:noFill/>
          <a:ln>
            <a:noFill/>
          </a:ln>
        </p:spPr>
      </p:pic>
      <p:pic>
        <p:nvPicPr>
          <p:cNvPr id="199" name="Google Shape;199;p27" descr="image.png"/>
          <p:cNvPicPr preferRelativeResize="0"/>
          <p:nvPr/>
        </p:nvPicPr>
        <p:blipFill rotWithShape="1">
          <a:blip r:embed="rId5">
            <a:alphaModFix/>
          </a:blip>
          <a:srcRect/>
          <a:stretch/>
        </p:blipFill>
        <p:spPr>
          <a:xfrm>
            <a:off x="231743" y="3960784"/>
            <a:ext cx="381000" cy="283037"/>
          </a:xfrm>
          <a:prstGeom prst="rect">
            <a:avLst/>
          </a:prstGeom>
          <a:noFill/>
          <a:ln>
            <a:noFill/>
          </a:ln>
        </p:spPr>
      </p:pic>
      <p:pic>
        <p:nvPicPr>
          <p:cNvPr id="200" name="Google Shape;200;p27" descr="image.png"/>
          <p:cNvPicPr preferRelativeResize="0"/>
          <p:nvPr/>
        </p:nvPicPr>
        <p:blipFill rotWithShape="1">
          <a:blip r:embed="rId6">
            <a:alphaModFix/>
          </a:blip>
          <a:srcRect/>
          <a:stretch/>
        </p:blipFill>
        <p:spPr>
          <a:xfrm>
            <a:off x="385505" y="5757223"/>
            <a:ext cx="266700" cy="283037"/>
          </a:xfrm>
          <a:prstGeom prst="rect">
            <a:avLst/>
          </a:prstGeom>
          <a:noFill/>
          <a:ln>
            <a:noFill/>
          </a:ln>
        </p:spPr>
      </p:pic>
      <p:sp>
        <p:nvSpPr>
          <p:cNvPr id="201" name="Google Shape;201;p27"/>
          <p:cNvSpPr txBox="1"/>
          <p:nvPr/>
        </p:nvSpPr>
        <p:spPr>
          <a:xfrm>
            <a:off x="1033117" y="1902942"/>
            <a:ext cx="443760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1E293B"/>
                </a:solidFill>
                <a:latin typeface="Poppins"/>
                <a:ea typeface="Poppins"/>
                <a:cs typeface="Poppins"/>
                <a:sym typeface="Poppins"/>
              </a:rPr>
              <a:t>Le Pic </a:t>
            </a:r>
            <a:r>
              <a:rPr lang="en-US" sz="1650" b="1" i="0" u="none" strike="noStrike" cap="none" dirty="0" err="1">
                <a:solidFill>
                  <a:srgbClr val="1E293B"/>
                </a:solidFill>
                <a:latin typeface="Poppins"/>
                <a:ea typeface="Poppins"/>
                <a:cs typeface="Poppins"/>
                <a:sym typeface="Poppins"/>
              </a:rPr>
              <a:t>Historique</a:t>
            </a:r>
            <a:r>
              <a:rPr lang="en-US" sz="1650" b="1" i="0" u="none" strike="noStrike" cap="none" dirty="0">
                <a:solidFill>
                  <a:srgbClr val="1E293B"/>
                </a:solidFill>
                <a:latin typeface="Poppins"/>
                <a:ea typeface="Poppins"/>
                <a:cs typeface="Poppins"/>
                <a:sym typeface="Poppins"/>
              </a:rPr>
              <a:t> (2008 - 2009)</a:t>
            </a:r>
            <a:endParaRPr dirty="0"/>
          </a:p>
        </p:txBody>
      </p:sp>
      <p:sp>
        <p:nvSpPr>
          <p:cNvPr id="202" name="Google Shape;202;p27"/>
          <p:cNvSpPr txBox="1"/>
          <p:nvPr/>
        </p:nvSpPr>
        <p:spPr>
          <a:xfrm>
            <a:off x="1033117" y="2269761"/>
            <a:ext cx="42264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Lato"/>
                <a:ea typeface="Lato"/>
                <a:cs typeface="Lato"/>
                <a:sym typeface="Lato"/>
              </a:rPr>
              <a:t>Il correspond à </a:t>
            </a:r>
            <a:r>
              <a:rPr lang="en-US" sz="1200" b="0" i="0" u="none" strike="noStrike" cap="none" dirty="0" err="1">
                <a:solidFill>
                  <a:srgbClr val="475569"/>
                </a:solidFill>
                <a:latin typeface="Lato"/>
                <a:ea typeface="Lato"/>
                <a:cs typeface="Lato"/>
                <a:sym typeface="Lato"/>
              </a:rPr>
              <a:t>l'âge</a:t>
            </a:r>
            <a:r>
              <a:rPr lang="en-US" sz="1200" b="0" i="0" u="none" strike="noStrike" cap="none" dirty="0">
                <a:solidFill>
                  <a:srgbClr val="475569"/>
                </a:solidFill>
                <a:latin typeface="Lato"/>
                <a:ea typeface="Lato"/>
                <a:cs typeface="Lato"/>
                <a:sym typeface="Lato"/>
              </a:rPr>
              <a:t> d'or du </a:t>
            </a:r>
            <a:r>
              <a:rPr lang="en-US" sz="1200" b="1" i="0" u="none" strike="noStrike" cap="none" dirty="0">
                <a:solidFill>
                  <a:srgbClr val="1E293B"/>
                </a:solidFill>
                <a:latin typeface="Lato"/>
                <a:ea typeface="Lato"/>
                <a:cs typeface="Lato"/>
                <a:sym typeface="Lato"/>
              </a:rPr>
              <a:t>"Casual Gaming"</a:t>
            </a:r>
            <a:r>
              <a:rPr lang="en-US" sz="1200" b="0" i="0" u="none" strike="noStrike" cap="none" dirty="0">
                <a:solidFill>
                  <a:srgbClr val="475569"/>
                </a:solidFill>
                <a:latin typeface="Lato"/>
                <a:ea typeface="Lato"/>
                <a:cs typeface="Lato"/>
                <a:sym typeface="Lato"/>
              </a:rPr>
              <a:t> (Nintendo Wii, DS). Cette époque a </a:t>
            </a:r>
            <a:r>
              <a:rPr lang="en-US" sz="1200" b="0" i="0" u="none" strike="noStrike" cap="none" dirty="0" err="1">
                <a:solidFill>
                  <a:srgbClr val="475569"/>
                </a:solidFill>
                <a:latin typeface="Lato"/>
                <a:ea typeface="Lato"/>
                <a:cs typeface="Lato"/>
                <a:sym typeface="Lato"/>
              </a:rPr>
              <a:t>temporairement</a:t>
            </a:r>
            <a:r>
              <a:rPr lang="en-US" sz="1200" b="0" i="0" u="none" strike="noStrike" cap="none" dirty="0">
                <a:solidFill>
                  <a:srgbClr val="475569"/>
                </a:solidFill>
                <a:latin typeface="Lato"/>
                <a:ea typeface="Lato"/>
                <a:cs typeface="Lato"/>
                <a:sym typeface="Lato"/>
              </a:rPr>
              <a:t> fait </a:t>
            </a:r>
            <a:r>
              <a:rPr lang="en-US" sz="1200" b="0" i="0" u="none" strike="noStrike" cap="none" dirty="0" err="1">
                <a:solidFill>
                  <a:srgbClr val="475569"/>
                </a:solidFill>
                <a:latin typeface="Lato"/>
                <a:ea typeface="Lato"/>
                <a:cs typeface="Lato"/>
                <a:sym typeface="Lato"/>
              </a:rPr>
              <a:t>exploser</a:t>
            </a:r>
            <a:r>
              <a:rPr lang="en-US" sz="1200" b="0" i="0" u="none" strike="noStrike" cap="none" dirty="0">
                <a:solidFill>
                  <a:srgbClr val="475569"/>
                </a:solidFill>
                <a:latin typeface="Lato"/>
                <a:ea typeface="Lato"/>
                <a:cs typeface="Lato"/>
                <a:sym typeface="Lato"/>
              </a:rPr>
              <a:t> les ventes de jeux physiques (</a:t>
            </a:r>
            <a:r>
              <a:rPr lang="en-US" sz="1200" b="0" i="0" u="none" strike="noStrike" cap="none" dirty="0" err="1">
                <a:solidFill>
                  <a:srgbClr val="475569"/>
                </a:solidFill>
                <a:latin typeface="Lato"/>
                <a:ea typeface="Lato"/>
                <a:cs typeface="Lato"/>
                <a:sym typeface="Lato"/>
              </a:rPr>
              <a:t>boîtes</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auprès</a:t>
            </a:r>
            <a:r>
              <a:rPr lang="en-US" sz="1200" b="0" i="0" u="none" strike="noStrike" cap="none" dirty="0">
                <a:solidFill>
                  <a:srgbClr val="475569"/>
                </a:solidFill>
                <a:latin typeface="Lato"/>
                <a:ea typeface="Lato"/>
                <a:cs typeface="Lato"/>
                <a:sym typeface="Lato"/>
              </a:rPr>
              <a:t> du grand public.</a:t>
            </a:r>
            <a:endParaRPr dirty="0"/>
          </a:p>
        </p:txBody>
      </p:sp>
      <p:sp>
        <p:nvSpPr>
          <p:cNvPr id="203" name="Google Shape;203;p27"/>
          <p:cNvSpPr txBox="1"/>
          <p:nvPr/>
        </p:nvSpPr>
        <p:spPr>
          <a:xfrm>
            <a:off x="1033117" y="3579979"/>
            <a:ext cx="4397699"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1E293B"/>
                </a:solidFill>
                <a:latin typeface="Poppins"/>
                <a:ea typeface="Poppins"/>
                <a:cs typeface="Poppins"/>
                <a:sym typeface="Poppins"/>
              </a:rPr>
              <a:t>La Mutation Numérique (</a:t>
            </a:r>
            <a:r>
              <a:rPr lang="en-US" sz="1650" b="1" i="0" u="none" strike="noStrike" cap="none" dirty="0" err="1">
                <a:solidFill>
                  <a:srgbClr val="1E293B"/>
                </a:solidFill>
                <a:latin typeface="Poppins"/>
                <a:ea typeface="Poppins"/>
                <a:cs typeface="Poppins"/>
                <a:sym typeface="Poppins"/>
              </a:rPr>
              <a:t>Dès</a:t>
            </a:r>
            <a:r>
              <a:rPr lang="en-US" sz="1650" b="1" i="0" u="none" strike="noStrike" cap="none" dirty="0">
                <a:solidFill>
                  <a:srgbClr val="1E293B"/>
                </a:solidFill>
                <a:latin typeface="Poppins"/>
                <a:ea typeface="Poppins"/>
                <a:cs typeface="Poppins"/>
                <a:sym typeface="Poppins"/>
              </a:rPr>
              <a:t> 2010)</a:t>
            </a:r>
            <a:endParaRPr dirty="0"/>
          </a:p>
        </p:txBody>
      </p:sp>
      <p:sp>
        <p:nvSpPr>
          <p:cNvPr id="204" name="Google Shape;204;p27"/>
          <p:cNvSpPr txBox="1"/>
          <p:nvPr/>
        </p:nvSpPr>
        <p:spPr>
          <a:xfrm>
            <a:off x="1033117" y="3845598"/>
            <a:ext cx="4188300"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Lato"/>
                <a:ea typeface="Lato"/>
                <a:cs typeface="Lato"/>
                <a:sym typeface="Lato"/>
              </a:rPr>
              <a:t>La </a:t>
            </a:r>
            <a:r>
              <a:rPr lang="en-US" sz="1200" b="0" i="0" u="none" strike="noStrike" cap="none" dirty="0" err="1">
                <a:solidFill>
                  <a:srgbClr val="475569"/>
                </a:solidFill>
                <a:latin typeface="Lato"/>
                <a:ea typeface="Lato"/>
                <a:cs typeface="Lato"/>
                <a:sym typeface="Lato"/>
              </a:rPr>
              <a:t>baisse</a:t>
            </a:r>
            <a:r>
              <a:rPr lang="en-US" sz="1200" b="0" i="0" u="none" strike="noStrike" cap="none" dirty="0">
                <a:solidFill>
                  <a:srgbClr val="475569"/>
                </a:solidFill>
                <a:latin typeface="Lato"/>
                <a:ea typeface="Lato"/>
                <a:cs typeface="Lato"/>
                <a:sym typeface="Lato"/>
              </a:rPr>
              <a:t> post-2010 </a:t>
            </a:r>
            <a:r>
              <a:rPr lang="en-US" sz="1200" b="0" i="0" u="none" strike="noStrike" cap="none" dirty="0" err="1">
                <a:solidFill>
                  <a:srgbClr val="475569"/>
                </a:solidFill>
                <a:latin typeface="Lato"/>
                <a:ea typeface="Lato"/>
                <a:cs typeface="Lato"/>
                <a:sym typeface="Lato"/>
              </a:rPr>
              <a:t>n'est</a:t>
            </a:r>
            <a:r>
              <a:rPr lang="en-US" sz="1200" b="0" i="0" u="none" strike="noStrike" cap="none" dirty="0">
                <a:solidFill>
                  <a:srgbClr val="475569"/>
                </a:solidFill>
                <a:latin typeface="Lato"/>
                <a:ea typeface="Lato"/>
                <a:cs typeface="Lato"/>
                <a:sym typeface="Lato"/>
              </a:rPr>
              <a:t> pas </a:t>
            </a:r>
            <a:r>
              <a:rPr lang="en-US" sz="1200" b="0" i="0" u="none" strike="noStrike" cap="none" dirty="0" err="1">
                <a:solidFill>
                  <a:srgbClr val="475569"/>
                </a:solidFill>
                <a:latin typeface="Lato"/>
                <a:ea typeface="Lato"/>
                <a:cs typeface="Lato"/>
                <a:sym typeface="Lato"/>
              </a:rPr>
              <a:t>une</a:t>
            </a:r>
            <a:r>
              <a:rPr lang="en-US" sz="1200" b="0" i="0" u="none" strike="noStrike" cap="none" dirty="0">
                <a:solidFill>
                  <a:srgbClr val="475569"/>
                </a:solidFill>
                <a:latin typeface="Lato"/>
                <a:ea typeface="Lato"/>
                <a:cs typeface="Lato"/>
                <a:sym typeface="Lato"/>
              </a:rPr>
              <a:t> crise de </a:t>
            </a:r>
            <a:r>
              <a:rPr lang="en-US" sz="1200" b="0" i="0" u="none" strike="noStrike" cap="none" dirty="0" err="1">
                <a:solidFill>
                  <a:srgbClr val="475569"/>
                </a:solidFill>
                <a:latin typeface="Lato"/>
                <a:ea typeface="Lato"/>
                <a:cs typeface="Lato"/>
                <a:sym typeface="Lato"/>
              </a:rPr>
              <a:t>l'industrie</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mais</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illustre</a:t>
            </a:r>
            <a:r>
              <a:rPr lang="en-US" sz="1200" b="0" i="0" u="none" strike="noStrike" cap="none" dirty="0">
                <a:solidFill>
                  <a:srgbClr val="475569"/>
                </a:solidFill>
                <a:latin typeface="Lato"/>
                <a:ea typeface="Lato"/>
                <a:cs typeface="Lato"/>
                <a:sym typeface="Lato"/>
              </a:rPr>
              <a:t> le </a:t>
            </a:r>
            <a:r>
              <a:rPr lang="en-US" sz="1200" b="1" i="0" u="none" strike="noStrike" cap="none" dirty="0" err="1">
                <a:solidFill>
                  <a:srgbClr val="1E293B"/>
                </a:solidFill>
                <a:latin typeface="Lato"/>
                <a:ea typeface="Lato"/>
                <a:cs typeface="Lato"/>
                <a:sym typeface="Lato"/>
              </a:rPr>
              <a:t>transfert</a:t>
            </a:r>
            <a:r>
              <a:rPr lang="en-US" sz="1200" b="1" i="0" u="none" strike="noStrike" cap="none" dirty="0">
                <a:solidFill>
                  <a:srgbClr val="1E293B"/>
                </a:solidFill>
                <a:latin typeface="Lato"/>
                <a:ea typeface="Lato"/>
                <a:cs typeface="Lato"/>
                <a:sym typeface="Lato"/>
              </a:rPr>
              <a:t> massif </a:t>
            </a:r>
            <a:r>
              <a:rPr lang="en-US" sz="1200" b="1" i="0" u="none" strike="noStrike" cap="none" dirty="0" err="1">
                <a:solidFill>
                  <a:srgbClr val="1E293B"/>
                </a:solidFill>
                <a:latin typeface="Lato"/>
                <a:ea typeface="Lato"/>
                <a:cs typeface="Lato"/>
                <a:sym typeface="Lato"/>
              </a:rPr>
              <a:t>vers</a:t>
            </a:r>
            <a:r>
              <a:rPr lang="en-US" sz="1200" b="1" i="0" u="none" strike="noStrike" cap="none" dirty="0">
                <a:solidFill>
                  <a:srgbClr val="1E293B"/>
                </a:solidFill>
                <a:latin typeface="Lato"/>
                <a:ea typeface="Lato"/>
                <a:cs typeface="Lato"/>
                <a:sym typeface="Lato"/>
              </a:rPr>
              <a:t> le </a:t>
            </a:r>
            <a:r>
              <a:rPr lang="en-US" sz="1200" b="1" i="0" u="none" strike="noStrike" cap="none" dirty="0" err="1">
                <a:solidFill>
                  <a:srgbClr val="1E293B"/>
                </a:solidFill>
                <a:latin typeface="Lato"/>
                <a:ea typeface="Lato"/>
                <a:cs typeface="Lato"/>
                <a:sym typeface="Lato"/>
              </a:rPr>
              <a:t>dématérialisé</a:t>
            </a:r>
            <a:r>
              <a:rPr lang="en-US" sz="1200" b="0" i="0" u="none" strike="noStrike" cap="none" dirty="0">
                <a:solidFill>
                  <a:srgbClr val="475569"/>
                </a:solidFill>
                <a:latin typeface="Lato"/>
                <a:ea typeface="Lato"/>
                <a:cs typeface="Lato"/>
                <a:sym typeface="Lato"/>
              </a:rPr>
              <a:t> (Steam, PS Store) et le mobile, des ventes non </a:t>
            </a:r>
            <a:r>
              <a:rPr lang="en-US" sz="1200" b="0" i="0" u="none" strike="noStrike" cap="none" dirty="0" err="1">
                <a:solidFill>
                  <a:srgbClr val="475569"/>
                </a:solidFill>
                <a:latin typeface="Lato"/>
                <a:ea typeface="Lato"/>
                <a:cs typeface="Lato"/>
                <a:sym typeface="Lato"/>
              </a:rPr>
              <a:t>comptabilisées</a:t>
            </a:r>
            <a:r>
              <a:rPr lang="en-US" sz="1200" b="0" i="0" u="none" strike="noStrike" cap="none" dirty="0">
                <a:solidFill>
                  <a:srgbClr val="475569"/>
                </a:solidFill>
                <a:latin typeface="Lato"/>
                <a:ea typeface="Lato"/>
                <a:cs typeface="Lato"/>
                <a:sym typeface="Lato"/>
              </a:rPr>
              <a:t> dans </a:t>
            </a:r>
            <a:r>
              <a:rPr lang="en-US" sz="1200" b="0" i="0" u="none" strike="noStrike" cap="none" dirty="0" err="1">
                <a:solidFill>
                  <a:srgbClr val="475569"/>
                </a:solidFill>
                <a:latin typeface="Lato"/>
                <a:ea typeface="Lato"/>
                <a:cs typeface="Lato"/>
                <a:sym typeface="Lato"/>
              </a:rPr>
              <a:t>cette</a:t>
            </a:r>
            <a:r>
              <a:rPr lang="en-US" sz="1200" b="0" i="0" u="none" strike="noStrike" cap="none" dirty="0">
                <a:solidFill>
                  <a:srgbClr val="475569"/>
                </a:solidFill>
                <a:latin typeface="Lato"/>
                <a:ea typeface="Lato"/>
                <a:cs typeface="Lato"/>
                <a:sym typeface="Lato"/>
              </a:rPr>
              <a:t> base de données.</a:t>
            </a:r>
            <a:endParaRPr dirty="0"/>
          </a:p>
        </p:txBody>
      </p:sp>
      <p:sp>
        <p:nvSpPr>
          <p:cNvPr id="205" name="Google Shape;205;p27"/>
          <p:cNvSpPr txBox="1"/>
          <p:nvPr/>
        </p:nvSpPr>
        <p:spPr>
          <a:xfrm>
            <a:off x="1033117" y="5336365"/>
            <a:ext cx="451770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1E293B"/>
                </a:solidFill>
                <a:latin typeface="Poppins"/>
                <a:ea typeface="Poppins"/>
                <a:cs typeface="Poppins"/>
                <a:sym typeface="Poppins"/>
              </a:rPr>
              <a:t>La </a:t>
            </a:r>
            <a:r>
              <a:rPr lang="en-US" sz="1650" b="1" i="0" u="none" strike="noStrike" cap="none" dirty="0" err="1">
                <a:solidFill>
                  <a:srgbClr val="1E293B"/>
                </a:solidFill>
                <a:latin typeface="Poppins"/>
                <a:ea typeface="Poppins"/>
                <a:cs typeface="Poppins"/>
                <a:sym typeface="Poppins"/>
              </a:rPr>
              <a:t>Limite</a:t>
            </a:r>
            <a:r>
              <a:rPr lang="en-US" sz="1650" b="1" i="0" u="none" strike="noStrike" cap="none" dirty="0">
                <a:solidFill>
                  <a:srgbClr val="1E293B"/>
                </a:solidFill>
                <a:latin typeface="Poppins"/>
                <a:ea typeface="Poppins"/>
                <a:cs typeface="Poppins"/>
                <a:sym typeface="Poppins"/>
              </a:rPr>
              <a:t> des Données (2016+)</a:t>
            </a:r>
            <a:endParaRPr dirty="0"/>
          </a:p>
        </p:txBody>
      </p:sp>
      <p:sp>
        <p:nvSpPr>
          <p:cNvPr id="206" name="Google Shape;206;p27"/>
          <p:cNvSpPr txBox="1"/>
          <p:nvPr/>
        </p:nvSpPr>
        <p:spPr>
          <a:xfrm>
            <a:off x="1033117" y="5663088"/>
            <a:ext cx="4691027"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475569"/>
                </a:solidFill>
                <a:latin typeface="Lato"/>
                <a:ea typeface="Lato"/>
                <a:cs typeface="Lato"/>
                <a:sym typeface="Lato"/>
              </a:rPr>
              <a:t>La chute </a:t>
            </a:r>
            <a:r>
              <a:rPr lang="en-US" sz="1200" b="0" i="0" u="none" strike="noStrike" cap="none" dirty="0" err="1">
                <a:solidFill>
                  <a:srgbClr val="475569"/>
                </a:solidFill>
                <a:latin typeface="Lato"/>
                <a:ea typeface="Lato"/>
                <a:cs typeface="Lato"/>
                <a:sym typeface="Lato"/>
              </a:rPr>
              <a:t>abrupte</a:t>
            </a:r>
            <a:r>
              <a:rPr lang="en-US" sz="1200" b="0" i="0" u="none" strike="noStrike" cap="none" dirty="0">
                <a:solidFill>
                  <a:srgbClr val="475569"/>
                </a:solidFill>
                <a:latin typeface="Lato"/>
                <a:ea typeface="Lato"/>
                <a:cs typeface="Lato"/>
                <a:sym typeface="Lato"/>
              </a:rPr>
              <a:t> finale </a:t>
            </a:r>
            <a:r>
              <a:rPr lang="en-US" sz="1200" b="0" i="0" u="none" strike="noStrike" cap="none" dirty="0" err="1">
                <a:solidFill>
                  <a:srgbClr val="475569"/>
                </a:solidFill>
                <a:latin typeface="Lato"/>
                <a:ea typeface="Lato"/>
                <a:cs typeface="Lato"/>
                <a:sym typeface="Lato"/>
              </a:rPr>
              <a:t>vers</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zéro</a:t>
            </a:r>
            <a:r>
              <a:rPr lang="en-US" sz="1200" b="0" i="0" u="none" strike="noStrike" cap="none" dirty="0">
                <a:solidFill>
                  <a:srgbClr val="475569"/>
                </a:solidFill>
                <a:latin typeface="Lato"/>
                <a:ea typeface="Lato"/>
                <a:cs typeface="Lato"/>
                <a:sym typeface="Lato"/>
              </a:rPr>
              <a:t> correspond </a:t>
            </a:r>
            <a:r>
              <a:rPr lang="en-US" sz="1200" b="0" i="0" u="none" strike="noStrike" cap="none" dirty="0" err="1">
                <a:solidFill>
                  <a:srgbClr val="475569"/>
                </a:solidFill>
                <a:latin typeface="Lato"/>
                <a:ea typeface="Lato"/>
                <a:cs typeface="Lato"/>
                <a:sym typeface="Lato"/>
              </a:rPr>
              <a:t>simplement</a:t>
            </a:r>
            <a:r>
              <a:rPr lang="en-US" sz="1200" b="0" i="0" u="none" strike="noStrike" cap="none" dirty="0">
                <a:solidFill>
                  <a:srgbClr val="475569"/>
                </a:solidFill>
                <a:latin typeface="Lato"/>
                <a:ea typeface="Lato"/>
                <a:cs typeface="Lato"/>
                <a:sym typeface="Lato"/>
              </a:rPr>
              <a:t> à </a:t>
            </a:r>
            <a:r>
              <a:rPr lang="en-US" sz="1200" b="1" i="0" u="none" strike="noStrike" cap="none" dirty="0" err="1">
                <a:solidFill>
                  <a:srgbClr val="1E293B"/>
                </a:solidFill>
                <a:latin typeface="Lato"/>
                <a:ea typeface="Lato"/>
                <a:cs typeface="Lato"/>
                <a:sym typeface="Lato"/>
              </a:rPr>
              <a:t>l'arrêt</a:t>
            </a:r>
            <a:r>
              <a:rPr lang="en-US" sz="1200" b="1" i="0" u="none" strike="noStrike" cap="none" dirty="0">
                <a:solidFill>
                  <a:srgbClr val="1E293B"/>
                </a:solidFill>
                <a:latin typeface="Lato"/>
                <a:ea typeface="Lato"/>
                <a:cs typeface="Lato"/>
                <a:sym typeface="Lato"/>
              </a:rPr>
              <a:t> de la </a:t>
            </a:r>
            <a:r>
              <a:rPr lang="en-US" sz="1200" b="1" i="0" u="none" strike="noStrike" cap="none" dirty="0" err="1">
                <a:solidFill>
                  <a:srgbClr val="1E293B"/>
                </a:solidFill>
                <a:latin typeface="Lato"/>
                <a:ea typeface="Lato"/>
                <a:cs typeface="Lato"/>
                <a:sym typeface="Lato"/>
              </a:rPr>
              <a:t>collecte</a:t>
            </a:r>
            <a:r>
              <a:rPr lang="en-US" sz="1200" b="1" i="0" u="none" strike="noStrike" cap="none" dirty="0">
                <a:solidFill>
                  <a:srgbClr val="1E293B"/>
                </a:solidFill>
                <a:latin typeface="Lato"/>
                <a:ea typeface="Lato"/>
                <a:cs typeface="Lato"/>
                <a:sym typeface="Lato"/>
              </a:rPr>
              <a:t> de </a:t>
            </a:r>
            <a:r>
              <a:rPr lang="en-US" sz="1200" b="1" i="0" u="none" strike="noStrike" cap="none" dirty="0" err="1">
                <a:solidFill>
                  <a:srgbClr val="1E293B"/>
                </a:solidFill>
                <a:latin typeface="Lato"/>
                <a:ea typeface="Lato"/>
                <a:cs typeface="Lato"/>
                <a:sym typeface="Lato"/>
              </a:rPr>
              <a:t>ce</a:t>
            </a:r>
            <a:r>
              <a:rPr lang="en-US" sz="1200" b="1" i="0" u="none" strike="noStrike" cap="none" dirty="0">
                <a:solidFill>
                  <a:srgbClr val="1E293B"/>
                </a:solidFill>
                <a:latin typeface="Lato"/>
                <a:ea typeface="Lato"/>
                <a:cs typeface="Lato"/>
                <a:sym typeface="Lato"/>
              </a:rPr>
              <a:t> jeu de données</a:t>
            </a:r>
            <a:r>
              <a:rPr lang="en-US" sz="1200" b="0" i="0" u="none" strike="noStrike" cap="none" dirty="0">
                <a:solidFill>
                  <a:srgbClr val="475569"/>
                </a:solidFill>
                <a:latin typeface="Lato"/>
                <a:ea typeface="Lato"/>
                <a:cs typeface="Lato"/>
                <a:sym typeface="Lato"/>
              </a:rPr>
              <a:t> open-source, et ne </a:t>
            </a:r>
            <a:r>
              <a:rPr lang="en-US" sz="1200" b="0" i="0" u="none" strike="noStrike" cap="none" dirty="0" err="1">
                <a:solidFill>
                  <a:srgbClr val="475569"/>
                </a:solidFill>
                <a:latin typeface="Lato"/>
                <a:ea typeface="Lato"/>
                <a:cs typeface="Lato"/>
                <a:sym typeface="Lato"/>
              </a:rPr>
              <a:t>reflète</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en</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aucun</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cas</a:t>
            </a:r>
            <a:r>
              <a:rPr lang="en-US" sz="1200" b="0" i="0" u="none" strike="noStrike" cap="none" dirty="0">
                <a:solidFill>
                  <a:srgbClr val="475569"/>
                </a:solidFill>
                <a:latin typeface="Lato"/>
                <a:ea typeface="Lato"/>
                <a:cs typeface="Lato"/>
                <a:sym typeface="Lato"/>
              </a:rPr>
              <a:t> la </a:t>
            </a:r>
            <a:r>
              <a:rPr lang="en-US" sz="1200" b="0" i="0" u="none" strike="noStrike" cap="none" dirty="0" err="1">
                <a:solidFill>
                  <a:srgbClr val="475569"/>
                </a:solidFill>
                <a:latin typeface="Lato"/>
                <a:ea typeface="Lato"/>
                <a:cs typeface="Lato"/>
                <a:sym typeface="Lato"/>
              </a:rPr>
              <a:t>réalité</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actuelle</a:t>
            </a:r>
            <a:r>
              <a:rPr lang="en-US" sz="1200" b="0" i="0" u="none" strike="noStrike" cap="none" dirty="0">
                <a:solidFill>
                  <a:srgbClr val="475569"/>
                </a:solidFill>
                <a:latin typeface="Lato"/>
                <a:ea typeface="Lato"/>
                <a:cs typeface="Lato"/>
                <a:sym typeface="Lato"/>
              </a:rPr>
              <a:t> du </a:t>
            </a:r>
            <a:r>
              <a:rPr lang="en-US" sz="1200" b="0" i="0" u="none" strike="noStrike" cap="none" dirty="0" err="1">
                <a:solidFill>
                  <a:srgbClr val="475569"/>
                </a:solidFill>
                <a:latin typeface="Lato"/>
                <a:ea typeface="Lato"/>
                <a:cs typeface="Lato"/>
                <a:sym typeface="Lato"/>
              </a:rPr>
              <a:t>marché</a:t>
            </a:r>
            <a:r>
              <a:rPr lang="en-US" sz="1200" b="0" i="0" u="none" strike="noStrike" cap="none" dirty="0">
                <a:solidFill>
                  <a:srgbClr val="475569"/>
                </a:solidFill>
                <a:latin typeface="Lato"/>
                <a:ea typeface="Lato"/>
                <a:cs typeface="Lato"/>
                <a:sym typeface="Lato"/>
              </a:rPr>
              <a:t>.</a:t>
            </a:r>
            <a:endParaRPr dirty="0"/>
          </a:p>
        </p:txBody>
      </p:sp>
      <p:pic>
        <p:nvPicPr>
          <p:cNvPr id="207" name="Google Shape;207;p27"/>
          <p:cNvPicPr preferRelativeResize="0"/>
          <p:nvPr/>
        </p:nvPicPr>
        <p:blipFill>
          <a:blip r:embed="rId7">
            <a:alphaModFix/>
          </a:blip>
          <a:stretch>
            <a:fillRect/>
          </a:stretch>
        </p:blipFill>
        <p:spPr>
          <a:xfrm>
            <a:off x="6463933" y="1884159"/>
            <a:ext cx="5537057" cy="327208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1"/>
        <p:cNvGrpSpPr/>
        <p:nvPr/>
      </p:nvGrpSpPr>
      <p:grpSpPr>
        <a:xfrm>
          <a:off x="0" y="0"/>
          <a:ext cx="0" cy="0"/>
          <a:chOff x="0" y="0"/>
          <a:chExt cx="0" cy="0"/>
        </a:xfrm>
      </p:grpSpPr>
      <p:pic>
        <p:nvPicPr>
          <p:cNvPr id="212" name="Google Shape;212;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3" name="Google Shape;213;p28" descr="image.png"/>
          <p:cNvPicPr preferRelativeResize="0"/>
          <p:nvPr/>
        </p:nvPicPr>
        <p:blipFill rotWithShape="1">
          <a:blip r:embed="rId4">
            <a:alphaModFix/>
          </a:blip>
          <a:srcRect/>
          <a:stretch/>
        </p:blipFill>
        <p:spPr>
          <a:xfrm>
            <a:off x="762000" y="1971675"/>
            <a:ext cx="3365450" cy="4314825"/>
          </a:xfrm>
          <a:prstGeom prst="rect">
            <a:avLst/>
          </a:prstGeom>
          <a:noFill/>
          <a:ln>
            <a:noFill/>
          </a:ln>
        </p:spPr>
      </p:pic>
      <p:pic>
        <p:nvPicPr>
          <p:cNvPr id="214" name="Google Shape;214;p28" descr="image.png"/>
          <p:cNvPicPr preferRelativeResize="0"/>
          <p:nvPr/>
        </p:nvPicPr>
        <p:blipFill rotWithShape="1">
          <a:blip r:embed="rId5">
            <a:alphaModFix/>
          </a:blip>
          <a:srcRect/>
          <a:stretch/>
        </p:blipFill>
        <p:spPr>
          <a:xfrm>
            <a:off x="4413200" y="1971675"/>
            <a:ext cx="3365450" cy="4314825"/>
          </a:xfrm>
          <a:prstGeom prst="rect">
            <a:avLst/>
          </a:prstGeom>
          <a:noFill/>
          <a:ln>
            <a:noFill/>
          </a:ln>
        </p:spPr>
      </p:pic>
      <p:pic>
        <p:nvPicPr>
          <p:cNvPr id="215" name="Google Shape;215;p28" descr="image.png"/>
          <p:cNvPicPr preferRelativeResize="0"/>
          <p:nvPr/>
        </p:nvPicPr>
        <p:blipFill rotWithShape="1">
          <a:blip r:embed="rId6">
            <a:alphaModFix/>
          </a:blip>
          <a:srcRect/>
          <a:stretch/>
        </p:blipFill>
        <p:spPr>
          <a:xfrm>
            <a:off x="8064400" y="1971675"/>
            <a:ext cx="3365599" cy="4314825"/>
          </a:xfrm>
          <a:prstGeom prst="rect">
            <a:avLst/>
          </a:prstGeom>
          <a:noFill/>
          <a:ln>
            <a:noFill/>
          </a:ln>
        </p:spPr>
      </p:pic>
      <p:sp>
        <p:nvSpPr>
          <p:cNvPr id="216" name="Google Shape;216;p28"/>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Futures Tendances du Marché</a:t>
            </a:r>
            <a:endParaRPr/>
          </a:p>
        </p:txBody>
      </p:sp>
      <p:sp>
        <p:nvSpPr>
          <p:cNvPr id="217" name="Google Shape;217;p28"/>
          <p:cNvSpPr txBox="1"/>
          <p:nvPr/>
        </p:nvSpPr>
        <p:spPr>
          <a:xfrm>
            <a:off x="762000" y="1266825"/>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err="1">
                <a:solidFill>
                  <a:srgbClr val="64748B"/>
                </a:solidFill>
                <a:latin typeface="Lato"/>
                <a:ea typeface="Lato"/>
                <a:cs typeface="Lato"/>
                <a:sym typeface="Lato"/>
              </a:rPr>
              <a:t>Anticiper</a:t>
            </a:r>
            <a:r>
              <a:rPr lang="en-US" sz="1500" b="0" i="0" u="none" strike="noStrike" cap="none" dirty="0">
                <a:solidFill>
                  <a:srgbClr val="64748B"/>
                </a:solidFill>
                <a:latin typeface="Lato"/>
                <a:ea typeface="Lato"/>
                <a:cs typeface="Lato"/>
                <a:sym typeface="Lato"/>
              </a:rPr>
              <a:t> le </a:t>
            </a:r>
            <a:r>
              <a:rPr lang="en-US" sz="1500" b="0" i="0" u="none" strike="noStrike" cap="none" dirty="0" err="1">
                <a:solidFill>
                  <a:srgbClr val="64748B"/>
                </a:solidFill>
                <a:latin typeface="Lato"/>
                <a:ea typeface="Lato"/>
                <a:cs typeface="Lato"/>
                <a:sym typeface="Lato"/>
              </a:rPr>
              <a:t>marché</a:t>
            </a:r>
            <a:r>
              <a:rPr lang="en-US" sz="1500" b="0" i="0" u="none" strike="noStrike" cap="none" dirty="0">
                <a:solidFill>
                  <a:srgbClr val="64748B"/>
                </a:solidFill>
                <a:latin typeface="Lato"/>
                <a:ea typeface="Lato"/>
                <a:cs typeface="Lato"/>
                <a:sym typeface="Lato"/>
              </a:rPr>
              <a:t> de 2026 et au-</a:t>
            </a:r>
            <a:r>
              <a:rPr lang="en-US" sz="1500" b="0" i="0" u="none" strike="noStrike" cap="none" dirty="0" err="1">
                <a:solidFill>
                  <a:srgbClr val="64748B"/>
                </a:solidFill>
                <a:latin typeface="Lato"/>
                <a:ea typeface="Lato"/>
                <a:cs typeface="Lato"/>
                <a:sym typeface="Lato"/>
              </a:rPr>
              <a:t>delà</a:t>
            </a:r>
            <a:r>
              <a:rPr lang="en-US" sz="1500" b="0" i="0" u="none" strike="noStrike" cap="none" dirty="0">
                <a:solidFill>
                  <a:srgbClr val="64748B"/>
                </a:solidFill>
                <a:latin typeface="Lato"/>
                <a:ea typeface="Lato"/>
                <a:cs typeface="Lato"/>
                <a:sym typeface="Lato"/>
              </a:rPr>
              <a:t> pour </a:t>
            </a:r>
            <a:r>
              <a:rPr lang="en-US" sz="1500" b="0" i="0" u="none" strike="noStrike" cap="none" dirty="0" err="1">
                <a:solidFill>
                  <a:srgbClr val="64748B"/>
                </a:solidFill>
                <a:latin typeface="Lato"/>
                <a:ea typeface="Lato"/>
                <a:cs typeface="Lato"/>
                <a:sym typeface="Lato"/>
              </a:rPr>
              <a:t>pérenniser</a:t>
            </a:r>
            <a:r>
              <a:rPr lang="en-US" sz="1500" b="0" i="0" u="none" strike="noStrike" cap="none" dirty="0">
                <a:solidFill>
                  <a:srgbClr val="64748B"/>
                </a:solidFill>
                <a:latin typeface="Lato"/>
                <a:ea typeface="Lato"/>
                <a:cs typeface="Lato"/>
                <a:sym typeface="Lato"/>
              </a:rPr>
              <a:t> </a:t>
            </a:r>
            <a:r>
              <a:rPr lang="en-US" sz="1500" b="0" i="0" u="none" strike="noStrike" cap="none" dirty="0" err="1">
                <a:solidFill>
                  <a:srgbClr val="64748B"/>
                </a:solidFill>
                <a:latin typeface="Lato"/>
                <a:ea typeface="Lato"/>
                <a:cs typeface="Lato"/>
                <a:sym typeface="Lato"/>
              </a:rPr>
              <a:t>notre</a:t>
            </a:r>
            <a:r>
              <a:rPr lang="en-US" sz="1500" b="0" i="0" u="none" strike="noStrike" cap="none" dirty="0">
                <a:solidFill>
                  <a:srgbClr val="64748B"/>
                </a:solidFill>
                <a:latin typeface="Lato"/>
                <a:ea typeface="Lato"/>
                <a:cs typeface="Lato"/>
                <a:sym typeface="Lato"/>
              </a:rPr>
              <a:t> </a:t>
            </a:r>
            <a:r>
              <a:rPr lang="en-US" sz="1500" b="0" i="0" u="none" strike="noStrike" cap="none" dirty="0" err="1">
                <a:solidFill>
                  <a:srgbClr val="64748B"/>
                </a:solidFill>
                <a:latin typeface="Lato"/>
                <a:ea typeface="Lato"/>
                <a:cs typeface="Lato"/>
                <a:sym typeface="Lato"/>
              </a:rPr>
              <a:t>investissement</a:t>
            </a:r>
            <a:r>
              <a:rPr lang="en-US" sz="1500" b="0" i="0" u="none" strike="noStrike" cap="none" dirty="0">
                <a:solidFill>
                  <a:srgbClr val="64748B"/>
                </a:solidFill>
                <a:latin typeface="Lato"/>
                <a:ea typeface="Lato"/>
                <a:cs typeface="Lato"/>
                <a:sym typeface="Lato"/>
              </a:rPr>
              <a:t>.</a:t>
            </a:r>
            <a:endParaRPr dirty="0"/>
          </a:p>
        </p:txBody>
      </p:sp>
      <p:pic>
        <p:nvPicPr>
          <p:cNvPr id="218" name="Google Shape;218;p28" descr="image.png"/>
          <p:cNvPicPr preferRelativeResize="0"/>
          <p:nvPr/>
        </p:nvPicPr>
        <p:blipFill rotWithShape="1">
          <a:blip r:embed="rId7">
            <a:alphaModFix/>
          </a:blip>
          <a:srcRect/>
          <a:stretch/>
        </p:blipFill>
        <p:spPr>
          <a:xfrm>
            <a:off x="2063650" y="2266950"/>
            <a:ext cx="762000" cy="762000"/>
          </a:xfrm>
          <a:prstGeom prst="rect">
            <a:avLst/>
          </a:prstGeom>
          <a:noFill/>
          <a:ln>
            <a:noFill/>
          </a:ln>
        </p:spPr>
      </p:pic>
      <p:sp>
        <p:nvSpPr>
          <p:cNvPr id="219" name="Google Shape;219;p28"/>
          <p:cNvSpPr txBox="1"/>
          <p:nvPr/>
        </p:nvSpPr>
        <p:spPr>
          <a:xfrm>
            <a:off x="1054477" y="3267075"/>
            <a:ext cx="2780400" cy="2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F172A"/>
                </a:solidFill>
                <a:latin typeface="Poppins"/>
                <a:ea typeface="Poppins"/>
                <a:cs typeface="Poppins"/>
                <a:sym typeface="Poppins"/>
              </a:rPr>
              <a:t>Standard Technologique</a:t>
            </a:r>
            <a:endParaRPr/>
          </a:p>
        </p:txBody>
      </p:sp>
      <p:sp>
        <p:nvSpPr>
          <p:cNvPr id="220" name="Google Shape;220;p28"/>
          <p:cNvSpPr txBox="1"/>
          <p:nvPr/>
        </p:nvSpPr>
        <p:spPr>
          <a:xfrm>
            <a:off x="1057275" y="3724275"/>
            <a:ext cx="2775000" cy="1957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L'</a:t>
            </a:r>
            <a:r>
              <a:rPr lang="en-US" sz="1200" b="1" i="0" u="none" strike="noStrike" cap="none">
                <a:solidFill>
                  <a:srgbClr val="475569"/>
                </a:solidFill>
                <a:latin typeface="Lato"/>
                <a:ea typeface="Lato"/>
                <a:cs typeface="Lato"/>
                <a:sym typeface="Lato"/>
              </a:rPr>
              <a:t>Unreal Engine 5</a:t>
            </a:r>
            <a:r>
              <a:rPr lang="en-US" sz="1200" b="0" i="0" u="none" strike="noStrike" cap="none">
                <a:solidFill>
                  <a:srgbClr val="475569"/>
                </a:solidFill>
                <a:latin typeface="Lato"/>
                <a:ea typeface="Lato"/>
                <a:cs typeface="Lato"/>
                <a:sym typeface="Lato"/>
              </a:rPr>
              <a:t> est devenu la norme absolue pour limiter les coûts de R&amp;D des studios tout en garantissant des graphismes "Next-Gen". Parallèlement, l'essor du </a:t>
            </a:r>
            <a:r>
              <a:rPr lang="en-US" sz="1200" b="1" i="0" u="none" strike="noStrike" cap="none">
                <a:solidFill>
                  <a:srgbClr val="475569"/>
                </a:solidFill>
                <a:latin typeface="Lato"/>
                <a:ea typeface="Lato"/>
                <a:cs typeface="Lato"/>
                <a:sym typeface="Lato"/>
              </a:rPr>
              <a:t>Cloud Gaming</a:t>
            </a:r>
            <a:r>
              <a:rPr lang="en-US" sz="1200" b="0" i="0" u="none" strike="noStrike" cap="none">
                <a:solidFill>
                  <a:srgbClr val="475569"/>
                </a:solidFill>
                <a:latin typeface="Lato"/>
                <a:ea typeface="Lato"/>
                <a:cs typeface="Lato"/>
                <a:sym typeface="Lato"/>
              </a:rPr>
              <a:t> force les jeux à être parfaitement optimisés dès le lancement, sans temps de chargement.</a:t>
            </a:r>
            <a:endParaRPr/>
          </a:p>
        </p:txBody>
      </p:sp>
      <p:pic>
        <p:nvPicPr>
          <p:cNvPr id="221" name="Google Shape;221;p28" descr="image.png"/>
          <p:cNvPicPr preferRelativeResize="0"/>
          <p:nvPr/>
        </p:nvPicPr>
        <p:blipFill rotWithShape="1">
          <a:blip r:embed="rId8">
            <a:alphaModFix/>
          </a:blip>
          <a:srcRect/>
          <a:stretch/>
        </p:blipFill>
        <p:spPr>
          <a:xfrm>
            <a:off x="5714851" y="2266950"/>
            <a:ext cx="762000" cy="762000"/>
          </a:xfrm>
          <a:prstGeom prst="rect">
            <a:avLst/>
          </a:prstGeom>
          <a:noFill/>
          <a:ln>
            <a:noFill/>
          </a:ln>
        </p:spPr>
      </p:pic>
      <p:sp>
        <p:nvSpPr>
          <p:cNvPr id="222" name="Google Shape;222;p28"/>
          <p:cNvSpPr txBox="1"/>
          <p:nvPr/>
        </p:nvSpPr>
        <p:spPr>
          <a:xfrm>
            <a:off x="4639102" y="3267075"/>
            <a:ext cx="2913600" cy="507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F172A"/>
                </a:solidFill>
                <a:latin typeface="Poppins"/>
                <a:ea typeface="Poppins"/>
                <a:cs typeface="Poppins"/>
                <a:sym typeface="Poppins"/>
              </a:rPr>
              <a:t>Modèle Économique Éthique</a:t>
            </a:r>
            <a:endParaRPr/>
          </a:p>
        </p:txBody>
      </p:sp>
      <p:sp>
        <p:nvSpPr>
          <p:cNvPr id="223" name="Google Shape;223;p28"/>
          <p:cNvSpPr txBox="1"/>
          <p:nvPr/>
        </p:nvSpPr>
        <p:spPr>
          <a:xfrm>
            <a:off x="4708475" y="4038600"/>
            <a:ext cx="2775000" cy="1957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Face au resserrement de l'étau légal en Europe, le modèle économique prédateur (Loot boxes) est amené à disparaître sur les jeux consoles premium. L'avenir est au </a:t>
            </a:r>
            <a:r>
              <a:rPr lang="en-US" sz="1200" b="1" i="0" u="none" strike="noStrike" cap="none">
                <a:solidFill>
                  <a:srgbClr val="475569"/>
                </a:solidFill>
                <a:latin typeface="Lato"/>
                <a:ea typeface="Lato"/>
                <a:cs typeface="Lato"/>
                <a:sym typeface="Lato"/>
              </a:rPr>
              <a:t>"Game as a Service" (GaaS) éthique</a:t>
            </a:r>
            <a:r>
              <a:rPr lang="en-US" sz="1200" b="0" i="0" u="none" strike="noStrike" cap="none">
                <a:solidFill>
                  <a:srgbClr val="475569"/>
                </a:solidFill>
                <a:latin typeface="Lato"/>
                <a:ea typeface="Lato"/>
                <a:cs typeface="Lato"/>
                <a:sym typeface="Lato"/>
              </a:rPr>
              <a:t> : achats cosmétiques clairs ou extensions narratives massives (DLC).</a:t>
            </a:r>
            <a:endParaRPr/>
          </a:p>
        </p:txBody>
      </p:sp>
      <p:pic>
        <p:nvPicPr>
          <p:cNvPr id="224" name="Google Shape;224;p28" descr="image.png"/>
          <p:cNvPicPr preferRelativeResize="0"/>
          <p:nvPr/>
        </p:nvPicPr>
        <p:blipFill rotWithShape="1">
          <a:blip r:embed="rId9">
            <a:alphaModFix/>
          </a:blip>
          <a:srcRect/>
          <a:stretch/>
        </p:blipFill>
        <p:spPr>
          <a:xfrm>
            <a:off x="9366200" y="2266950"/>
            <a:ext cx="762000" cy="762000"/>
          </a:xfrm>
          <a:prstGeom prst="rect">
            <a:avLst/>
          </a:prstGeom>
          <a:noFill/>
          <a:ln>
            <a:noFill/>
          </a:ln>
        </p:spPr>
      </p:pic>
      <p:sp>
        <p:nvSpPr>
          <p:cNvPr id="225" name="Google Shape;225;p28"/>
          <p:cNvSpPr txBox="1"/>
          <p:nvPr/>
        </p:nvSpPr>
        <p:spPr>
          <a:xfrm>
            <a:off x="8527047" y="3267075"/>
            <a:ext cx="2440200" cy="2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F172A"/>
                </a:solidFill>
                <a:latin typeface="Poppins"/>
                <a:ea typeface="Poppins"/>
                <a:cs typeface="Poppins"/>
                <a:sym typeface="Poppins"/>
              </a:rPr>
              <a:t>Multiplateforme Ciblé</a:t>
            </a:r>
            <a:endParaRPr/>
          </a:p>
        </p:txBody>
      </p:sp>
      <p:sp>
        <p:nvSpPr>
          <p:cNvPr id="226" name="Google Shape;226;p28"/>
          <p:cNvSpPr txBox="1"/>
          <p:nvPr/>
        </p:nvSpPr>
        <p:spPr>
          <a:xfrm>
            <a:off x="8359675" y="3724275"/>
            <a:ext cx="2775000" cy="1957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Pour amortir des budgets colossaux, l'exclusivité absolue devient rare. Les futurs succès devront être pensés </a:t>
            </a:r>
            <a:r>
              <a:rPr lang="en-US" sz="1200" b="1" i="0" u="none" strike="noStrike" cap="none">
                <a:solidFill>
                  <a:srgbClr val="475569"/>
                </a:solidFill>
                <a:latin typeface="Lato"/>
                <a:ea typeface="Lato"/>
                <a:cs typeface="Lato"/>
                <a:sym typeface="Lato"/>
              </a:rPr>
              <a:t>Cross-Platform</a:t>
            </a:r>
            <a:r>
              <a:rPr lang="en-US" sz="1200" b="0" i="0" u="none" strike="noStrike" cap="none">
                <a:solidFill>
                  <a:srgbClr val="475569"/>
                </a:solidFill>
                <a:latin typeface="Lato"/>
                <a:ea typeface="Lato"/>
                <a:cs typeface="Lato"/>
                <a:sym typeface="Lato"/>
              </a:rPr>
              <a:t> (PlayStation + PC + Xbox), tout en reconnaissant que le cœur de la cible console réside historiquement sur l'écosystème Sony.</a:t>
            </a:r>
            <a:endParaRPr/>
          </a:p>
        </p:txBody>
      </p:sp>
      <p:pic>
        <p:nvPicPr>
          <p:cNvPr id="227" name="Google Shape;227;p28" descr="image.png"/>
          <p:cNvPicPr preferRelativeResize="0"/>
          <p:nvPr/>
        </p:nvPicPr>
        <p:blipFill rotWithShape="1">
          <a:blip r:embed="rId10">
            <a:alphaModFix/>
          </a:blip>
          <a:srcRect/>
          <a:stretch/>
        </p:blipFill>
        <p:spPr>
          <a:xfrm>
            <a:off x="2277963" y="2481262"/>
            <a:ext cx="333375" cy="333375"/>
          </a:xfrm>
          <a:prstGeom prst="rect">
            <a:avLst/>
          </a:prstGeom>
          <a:noFill/>
          <a:ln>
            <a:noFill/>
          </a:ln>
        </p:spPr>
      </p:pic>
      <p:pic>
        <p:nvPicPr>
          <p:cNvPr id="228" name="Google Shape;228;p28" descr="image.png"/>
          <p:cNvPicPr preferRelativeResize="0"/>
          <p:nvPr/>
        </p:nvPicPr>
        <p:blipFill rotWithShape="1">
          <a:blip r:embed="rId11">
            <a:alphaModFix/>
          </a:blip>
          <a:srcRect/>
          <a:stretch/>
        </p:blipFill>
        <p:spPr>
          <a:xfrm>
            <a:off x="5886301" y="2481262"/>
            <a:ext cx="419100" cy="333375"/>
          </a:xfrm>
          <a:prstGeom prst="rect">
            <a:avLst/>
          </a:prstGeom>
          <a:noFill/>
          <a:ln>
            <a:noFill/>
          </a:ln>
        </p:spPr>
      </p:pic>
      <p:pic>
        <p:nvPicPr>
          <p:cNvPr id="229" name="Google Shape;229;p28" descr="image.png"/>
          <p:cNvPicPr preferRelativeResize="0"/>
          <p:nvPr/>
        </p:nvPicPr>
        <p:blipFill rotWithShape="1">
          <a:blip r:embed="rId12">
            <a:alphaModFix/>
          </a:blip>
          <a:srcRect/>
          <a:stretch/>
        </p:blipFill>
        <p:spPr>
          <a:xfrm>
            <a:off x="9580512" y="2481262"/>
            <a:ext cx="333375" cy="333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pic>
        <p:nvPicPr>
          <p:cNvPr id="234" name="Google Shape;234;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5" name="Google Shape;235;p29" descr="image.png"/>
          <p:cNvPicPr preferRelativeResize="0"/>
          <p:nvPr/>
        </p:nvPicPr>
        <p:blipFill rotWithShape="1">
          <a:blip r:embed="rId4">
            <a:alphaModFix/>
          </a:blip>
          <a:srcRect/>
          <a:stretch/>
        </p:blipFill>
        <p:spPr>
          <a:xfrm>
            <a:off x="762000" y="3465165"/>
            <a:ext cx="10668000" cy="2440185"/>
          </a:xfrm>
          <a:prstGeom prst="rect">
            <a:avLst/>
          </a:prstGeom>
          <a:noFill/>
          <a:ln>
            <a:noFill/>
          </a:ln>
        </p:spPr>
      </p:pic>
      <p:pic>
        <p:nvPicPr>
          <p:cNvPr id="236" name="Google Shape;236;p29" descr="image.png"/>
          <p:cNvPicPr preferRelativeResize="0"/>
          <p:nvPr/>
        </p:nvPicPr>
        <p:blipFill rotWithShape="1">
          <a:blip r:embed="rId5">
            <a:alphaModFix/>
          </a:blip>
          <a:srcRect/>
          <a:stretch/>
        </p:blipFill>
        <p:spPr>
          <a:xfrm>
            <a:off x="762000" y="1876425"/>
            <a:ext cx="3365450" cy="1207740"/>
          </a:xfrm>
          <a:prstGeom prst="rect">
            <a:avLst/>
          </a:prstGeom>
          <a:noFill/>
          <a:ln>
            <a:noFill/>
          </a:ln>
        </p:spPr>
      </p:pic>
      <p:pic>
        <p:nvPicPr>
          <p:cNvPr id="237" name="Google Shape;237;p29" descr="image.png"/>
          <p:cNvPicPr preferRelativeResize="0"/>
          <p:nvPr/>
        </p:nvPicPr>
        <p:blipFill rotWithShape="1">
          <a:blip r:embed="rId6">
            <a:alphaModFix/>
          </a:blip>
          <a:srcRect/>
          <a:stretch/>
        </p:blipFill>
        <p:spPr>
          <a:xfrm>
            <a:off x="4413200" y="1876425"/>
            <a:ext cx="3365450" cy="1207740"/>
          </a:xfrm>
          <a:prstGeom prst="rect">
            <a:avLst/>
          </a:prstGeom>
          <a:noFill/>
          <a:ln>
            <a:noFill/>
          </a:ln>
        </p:spPr>
      </p:pic>
      <p:pic>
        <p:nvPicPr>
          <p:cNvPr id="238" name="Google Shape;238;p29" descr="image.png"/>
          <p:cNvPicPr preferRelativeResize="0"/>
          <p:nvPr/>
        </p:nvPicPr>
        <p:blipFill rotWithShape="1">
          <a:blip r:embed="rId7">
            <a:alphaModFix/>
          </a:blip>
          <a:srcRect/>
          <a:stretch/>
        </p:blipFill>
        <p:spPr>
          <a:xfrm>
            <a:off x="8064400" y="1876425"/>
            <a:ext cx="3365450" cy="1207740"/>
          </a:xfrm>
          <a:prstGeom prst="rect">
            <a:avLst/>
          </a:prstGeom>
          <a:noFill/>
          <a:ln>
            <a:noFill/>
          </a:ln>
        </p:spPr>
      </p:pic>
      <p:sp>
        <p:nvSpPr>
          <p:cNvPr id="239" name="Google Shape;239;p29"/>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Analyse Chiffrée : Sélection du Segment</a:t>
            </a:r>
            <a:endParaRPr/>
          </a:p>
        </p:txBody>
      </p:sp>
      <p:sp>
        <p:nvSpPr>
          <p:cNvPr id="240" name="Google Shape;240;p29"/>
          <p:cNvSpPr txBox="1"/>
          <p:nvPr/>
        </p:nvSpPr>
        <p:spPr>
          <a:xfrm>
            <a:off x="762000" y="1266825"/>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Lato"/>
                <a:ea typeface="Lato"/>
                <a:cs typeface="Lato"/>
                <a:sym typeface="Lato"/>
              </a:rPr>
              <a:t>Preuves issues de notre modélisation Data (Basée sur 9.06K Millions de ventes analysées).</a:t>
            </a:r>
            <a:endParaRPr/>
          </a:p>
        </p:txBody>
      </p:sp>
      <p:sp>
        <p:nvSpPr>
          <p:cNvPr id="241" name="Google Shape;241;p29"/>
          <p:cNvSpPr txBox="1"/>
          <p:nvPr/>
        </p:nvSpPr>
        <p:spPr>
          <a:xfrm>
            <a:off x="1057275" y="3760440"/>
            <a:ext cx="105813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293B"/>
                </a:solidFill>
                <a:latin typeface="Poppins"/>
                <a:ea typeface="Poppins"/>
                <a:cs typeface="Poppins"/>
                <a:sym typeface="Poppins"/>
              </a:rPr>
              <a:t>Synthèse de la "Matrice Magique"</a:t>
            </a:r>
            <a:endParaRPr/>
          </a:p>
        </p:txBody>
      </p:sp>
      <p:sp>
        <p:nvSpPr>
          <p:cNvPr id="242" name="Google Shape;242;p29"/>
          <p:cNvSpPr/>
          <p:nvPr/>
        </p:nvSpPr>
        <p:spPr>
          <a:xfrm>
            <a:off x="1057275" y="4170015"/>
            <a:ext cx="10077600" cy="192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9"/>
          <p:cNvSpPr txBox="1"/>
          <p:nvPr/>
        </p:nvSpPr>
        <p:spPr>
          <a:xfrm>
            <a:off x="1057275" y="4331940"/>
            <a:ext cx="10077600" cy="54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Notre croisement de données (Consoles vs Genres) est formel. Le genre "Sport" étant verrouillé par un monopole (EA) et le marché familial dominé par Nintendo, la zone de rentabilité maximale pour un nouvel acteur se situe dans la catégorie </a:t>
            </a:r>
            <a:r>
              <a:rPr lang="en-US" sz="1350" b="1" i="0" u="none" strike="noStrike" cap="none">
                <a:solidFill>
                  <a:srgbClr val="334155"/>
                </a:solidFill>
                <a:latin typeface="Lato"/>
                <a:ea typeface="Lato"/>
                <a:cs typeface="Lato"/>
                <a:sym typeface="Lato"/>
              </a:rPr>
              <a:t>Action / Shooter</a:t>
            </a:r>
            <a:r>
              <a:rPr lang="en-US" sz="1350" b="0" i="0" u="none" strike="noStrike" cap="none">
                <a:solidFill>
                  <a:srgbClr val="334155"/>
                </a:solidFill>
                <a:latin typeface="Lato"/>
                <a:ea typeface="Lato"/>
                <a:cs typeface="Lato"/>
                <a:sym typeface="Lato"/>
              </a:rPr>
              <a:t>.</a:t>
            </a:r>
            <a:endParaRPr/>
          </a:p>
        </p:txBody>
      </p:sp>
      <p:sp>
        <p:nvSpPr>
          <p:cNvPr id="244" name="Google Shape;244;p29"/>
          <p:cNvSpPr txBox="1"/>
          <p:nvPr/>
        </p:nvSpPr>
        <p:spPr>
          <a:xfrm>
            <a:off x="1057275" y="5061495"/>
            <a:ext cx="10077600" cy="54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Lato"/>
                <a:ea typeface="Lato"/>
                <a:cs typeface="Lato"/>
                <a:sym typeface="Lato"/>
              </a:rPr>
              <a:t>Historiquement, les ventes sur la famille de consoles PlayStation (PS2, PS3, PS4) écrasent le marché sur ce genre précis (ex: </a:t>
            </a:r>
            <a:r>
              <a:rPr lang="en-US" sz="1350" b="1" i="0" u="none" strike="noStrike" cap="none">
                <a:solidFill>
                  <a:srgbClr val="2563EB"/>
                </a:solidFill>
                <a:latin typeface="Lato"/>
                <a:ea typeface="Lato"/>
                <a:cs typeface="Lato"/>
                <a:sym typeface="Lato"/>
              </a:rPr>
              <a:t>&gt; 350 Millions de jeux d'Action sur PS3</a:t>
            </a:r>
            <a:r>
              <a:rPr lang="en-US" sz="1350" b="0" i="0" u="none" strike="noStrike" cap="none">
                <a:solidFill>
                  <a:srgbClr val="334155"/>
                </a:solidFill>
                <a:latin typeface="Lato"/>
                <a:ea typeface="Lato"/>
                <a:cs typeface="Lato"/>
                <a:sym typeface="Lato"/>
              </a:rPr>
              <a:t>). Notre segment visé est donc : </a:t>
            </a:r>
            <a:r>
              <a:rPr lang="en-US" sz="1350" b="1" i="0" u="none" strike="noStrike" cap="none">
                <a:solidFill>
                  <a:srgbClr val="334155"/>
                </a:solidFill>
                <a:latin typeface="Lato"/>
                <a:ea typeface="Lato"/>
                <a:cs typeface="Lato"/>
                <a:sym typeface="Lato"/>
              </a:rPr>
              <a:t>Un jeu d'Action sur PS5, Xbox Series et PC</a:t>
            </a:r>
            <a:r>
              <a:rPr lang="en-US" sz="1350" b="0" i="0" u="none" strike="noStrike" cap="none">
                <a:solidFill>
                  <a:srgbClr val="334155"/>
                </a:solidFill>
                <a:latin typeface="Lato"/>
                <a:ea typeface="Lato"/>
                <a:cs typeface="Lato"/>
                <a:sym typeface="Lato"/>
              </a:rPr>
              <a:t>.</a:t>
            </a:r>
            <a:endParaRPr/>
          </a:p>
        </p:txBody>
      </p:sp>
      <p:sp>
        <p:nvSpPr>
          <p:cNvPr id="245" name="Google Shape;245;p29"/>
          <p:cNvSpPr txBox="1"/>
          <p:nvPr/>
        </p:nvSpPr>
        <p:spPr>
          <a:xfrm>
            <a:off x="1000125" y="2114550"/>
            <a:ext cx="2889300" cy="554100"/>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600" b="1" i="0" u="none" strike="noStrike" cap="none">
                <a:solidFill>
                  <a:srgbClr val="38BDF8"/>
                </a:solidFill>
                <a:latin typeface="Poppins"/>
                <a:ea typeface="Poppins"/>
                <a:cs typeface="Poppins"/>
                <a:sym typeface="Poppins"/>
              </a:rPr>
              <a:t>N°1</a:t>
            </a:r>
            <a:endParaRPr/>
          </a:p>
        </p:txBody>
      </p:sp>
      <p:sp>
        <p:nvSpPr>
          <p:cNvPr id="246" name="Google Shape;246;p29"/>
          <p:cNvSpPr txBox="1"/>
          <p:nvPr/>
        </p:nvSpPr>
        <p:spPr>
          <a:xfrm>
            <a:off x="1000125" y="2665065"/>
            <a:ext cx="28893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94A3B8"/>
                </a:solidFill>
                <a:latin typeface="Lato"/>
                <a:ea typeface="Lato"/>
                <a:cs typeface="Lato"/>
                <a:sym typeface="Lato"/>
              </a:rPr>
              <a:t>LE GENRE : ACTION / SHOOTER</a:t>
            </a:r>
            <a:endParaRPr/>
          </a:p>
        </p:txBody>
      </p:sp>
      <p:sp>
        <p:nvSpPr>
          <p:cNvPr id="247" name="Google Shape;247;p29"/>
          <p:cNvSpPr txBox="1"/>
          <p:nvPr/>
        </p:nvSpPr>
        <p:spPr>
          <a:xfrm>
            <a:off x="4651325" y="2114550"/>
            <a:ext cx="2889300" cy="554100"/>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600" b="1" i="0" u="none" strike="noStrike" cap="none">
                <a:solidFill>
                  <a:srgbClr val="38BDF8"/>
                </a:solidFill>
                <a:latin typeface="Poppins"/>
                <a:ea typeface="Poppins"/>
                <a:cs typeface="Poppins"/>
                <a:sym typeface="Poppins"/>
              </a:rPr>
              <a:t>Sony &amp; PC</a:t>
            </a:r>
            <a:endParaRPr/>
          </a:p>
        </p:txBody>
      </p:sp>
      <p:sp>
        <p:nvSpPr>
          <p:cNvPr id="248" name="Google Shape;248;p29"/>
          <p:cNvSpPr txBox="1"/>
          <p:nvPr/>
        </p:nvSpPr>
        <p:spPr>
          <a:xfrm>
            <a:off x="4651325" y="2665065"/>
            <a:ext cx="28893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94A3B8"/>
                </a:solidFill>
                <a:latin typeface="Lato"/>
                <a:ea typeface="Lato"/>
                <a:cs typeface="Lato"/>
                <a:sym typeface="Lato"/>
              </a:rPr>
              <a:t>L'ÉCOSYSTÈME LEADER</a:t>
            </a:r>
            <a:endParaRPr/>
          </a:p>
        </p:txBody>
      </p:sp>
      <p:sp>
        <p:nvSpPr>
          <p:cNvPr id="249" name="Google Shape;249;p29"/>
          <p:cNvSpPr txBox="1"/>
          <p:nvPr/>
        </p:nvSpPr>
        <p:spPr>
          <a:xfrm>
            <a:off x="8302525" y="2114550"/>
            <a:ext cx="2889300" cy="554100"/>
          </a:xfrm>
          <a:prstGeom prst="rect">
            <a:avLst/>
          </a:prstGeom>
          <a:noFill/>
          <a:ln>
            <a:noFill/>
          </a:ln>
        </p:spPr>
        <p:txBody>
          <a:bodyPr spcFirstLastPara="1" wrap="square" lIns="0" tIns="0" rIns="0" bIns="0" anchor="t" anchorCtr="0">
            <a:spAutoFit/>
          </a:bodyPr>
          <a:lstStyle/>
          <a:p>
            <a:pPr marL="0" marR="0" lvl="0" indent="0" algn="ctr" rtl="0">
              <a:lnSpc>
                <a:spcPct val="109972"/>
              </a:lnSpc>
              <a:spcBef>
                <a:spcPts val="0"/>
              </a:spcBef>
              <a:spcAft>
                <a:spcPts val="0"/>
              </a:spcAft>
              <a:buNone/>
            </a:pPr>
            <a:r>
              <a:rPr lang="en-US" sz="3600" b="1" i="0" u="none" strike="noStrike" cap="none">
                <a:solidFill>
                  <a:srgbClr val="38BDF8"/>
                </a:solidFill>
                <a:latin typeface="Poppins"/>
                <a:ea typeface="Poppins"/>
                <a:cs typeface="Poppins"/>
                <a:sym typeface="Poppins"/>
              </a:rPr>
              <a:t>&gt; 85</a:t>
            </a:r>
            <a:endParaRPr/>
          </a:p>
        </p:txBody>
      </p:sp>
      <p:sp>
        <p:nvSpPr>
          <p:cNvPr id="250" name="Google Shape;250;p29"/>
          <p:cNvSpPr txBox="1"/>
          <p:nvPr/>
        </p:nvSpPr>
        <p:spPr>
          <a:xfrm>
            <a:off x="8302525" y="2665065"/>
            <a:ext cx="28893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94A3B8"/>
                </a:solidFill>
                <a:latin typeface="Lato"/>
                <a:ea typeface="Lato"/>
                <a:cs typeface="Lato"/>
                <a:sym typeface="Lato"/>
              </a:rPr>
              <a:t>SCORE METACRITIC CIBLE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4"/>
        <p:cNvGrpSpPr/>
        <p:nvPr/>
      </p:nvGrpSpPr>
      <p:grpSpPr>
        <a:xfrm>
          <a:off x="0" y="0"/>
          <a:ext cx="0" cy="0"/>
          <a:chOff x="0" y="0"/>
          <a:chExt cx="0" cy="0"/>
        </a:xfrm>
      </p:grpSpPr>
      <p:pic>
        <p:nvPicPr>
          <p:cNvPr id="255" name="Google Shape;255;p30" descr="image.png"/>
          <p:cNvPicPr preferRelativeResize="0"/>
          <p:nvPr/>
        </p:nvPicPr>
        <p:blipFill rotWithShape="1">
          <a:blip r:embed="rId3">
            <a:alphaModFix/>
          </a:blip>
          <a:srcRect/>
          <a:stretch/>
        </p:blipFill>
        <p:spPr>
          <a:xfrm>
            <a:off x="586138" y="804850"/>
            <a:ext cx="10668000" cy="6315075"/>
          </a:xfrm>
          <a:prstGeom prst="rect">
            <a:avLst/>
          </a:prstGeom>
          <a:noFill/>
          <a:ln>
            <a:noFill/>
          </a:ln>
        </p:spPr>
      </p:pic>
      <p:sp>
        <p:nvSpPr>
          <p:cNvPr id="256" name="Google Shape;256;p30"/>
          <p:cNvSpPr txBox="1"/>
          <p:nvPr/>
        </p:nvSpPr>
        <p:spPr>
          <a:xfrm>
            <a:off x="677900" y="109525"/>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Analyse PESTEL : Marché du Jeu Vidéo AAA</a:t>
            </a:r>
            <a:endParaRPr/>
          </a:p>
        </p:txBody>
      </p:sp>
      <p:sp>
        <p:nvSpPr>
          <p:cNvPr id="257" name="Google Shape;257;p30"/>
          <p:cNvSpPr txBox="1"/>
          <p:nvPr/>
        </p:nvSpPr>
        <p:spPr>
          <a:xfrm>
            <a:off x="677900" y="804850"/>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Lato"/>
                <a:ea typeface="Lato"/>
                <a:cs typeface="Lato"/>
                <a:sym typeface="Lato"/>
              </a:rPr>
              <a:t>Évaluation de l'environnement macro-économique et impacts stratégiques pour UOI Games.</a:t>
            </a:r>
            <a:endParaRPr/>
          </a:p>
        </p:txBody>
      </p:sp>
      <p:graphicFrame>
        <p:nvGraphicFramePr>
          <p:cNvPr id="258" name="Google Shape;258;p30"/>
          <p:cNvGraphicFramePr/>
          <p:nvPr/>
        </p:nvGraphicFramePr>
        <p:xfrm>
          <a:off x="595688" y="662391"/>
          <a:ext cx="10648925" cy="6295975"/>
        </p:xfrm>
        <a:graphic>
          <a:graphicData uri="http://schemas.openxmlformats.org/drawingml/2006/table">
            <a:tbl>
              <a:tblPr firstRow="1" bandRow="1">
                <a:noFill/>
                <a:tableStyleId>{57E29CD9-3B92-4A89-B910-AA65B7E8276D}</a:tableStyleId>
              </a:tblPr>
              <a:tblGrid>
                <a:gridCol w="2014525">
                  <a:extLst>
                    <a:ext uri="{9D8B030D-6E8A-4147-A177-3AD203B41FA5}">
                      <a16:colId xmlns:a16="http://schemas.microsoft.com/office/drawing/2014/main" val="20000"/>
                    </a:ext>
                  </a:extLst>
                </a:gridCol>
                <a:gridCol w="4555925">
                  <a:extLst>
                    <a:ext uri="{9D8B030D-6E8A-4147-A177-3AD203B41FA5}">
                      <a16:colId xmlns:a16="http://schemas.microsoft.com/office/drawing/2014/main" val="20001"/>
                    </a:ext>
                  </a:extLst>
                </a:gridCol>
                <a:gridCol w="4078475">
                  <a:extLst>
                    <a:ext uri="{9D8B030D-6E8A-4147-A177-3AD203B41FA5}">
                      <a16:colId xmlns:a16="http://schemas.microsoft.com/office/drawing/2014/main" val="20002"/>
                    </a:ext>
                  </a:extLst>
                </a:gridCol>
              </a:tblGrid>
              <a:tr h="899425">
                <a:tc>
                  <a:txBody>
                    <a:bodyPr/>
                    <a:lstStyle/>
                    <a:p>
                      <a:pPr marL="0" marR="0" lvl="0" indent="0" algn="l" rtl="0">
                        <a:spcBef>
                          <a:spcPts val="0"/>
                        </a:spcBef>
                        <a:spcAft>
                          <a:spcPts val="0"/>
                        </a:spcAft>
                        <a:buNone/>
                      </a:pPr>
                      <a:r>
                        <a:rPr lang="en-US" sz="1350" b="1" i="0" u="none" strike="noStrike" cap="none">
                          <a:solidFill>
                            <a:srgbClr val="334155"/>
                          </a:solidFill>
                          <a:latin typeface="Poppins"/>
                          <a:ea typeface="Poppins"/>
                          <a:cs typeface="Poppins"/>
                          <a:sym typeface="Poppins"/>
                        </a:rPr>
                        <a:t>Facteu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1" i="0" u="none" strike="noStrike" cap="none">
                          <a:solidFill>
                            <a:srgbClr val="334155"/>
                          </a:solidFill>
                          <a:latin typeface="Poppins"/>
                          <a:ea typeface="Poppins"/>
                          <a:cs typeface="Poppins"/>
                          <a:sym typeface="Poppins"/>
                        </a:rPr>
                        <a:t>Analyse du marché actuel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1" i="0" u="none" strike="noStrike" cap="none">
                          <a:solidFill>
                            <a:srgbClr val="334155"/>
                          </a:solidFill>
                          <a:latin typeface="Poppins"/>
                          <a:ea typeface="Poppins"/>
                          <a:cs typeface="Poppins"/>
                          <a:sym typeface="Poppins"/>
                        </a:rPr>
                        <a:t>Impact stratégique pour UOI Games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899425">
                <a:tc>
                  <a:txBody>
                    <a:bodyPr/>
                    <a:lstStyle/>
                    <a:p>
                      <a:pPr marL="0" marR="0" lvl="0" indent="0" algn="l" rtl="0">
                        <a:spcBef>
                          <a:spcPts val="0"/>
                        </a:spcBef>
                        <a:spcAft>
                          <a:spcPts val="0"/>
                        </a:spcAft>
                        <a:buNone/>
                      </a:pPr>
                      <a:r>
                        <a:rPr lang="en-US" sz="1350" b="1" i="0" u="none" strike="noStrike" cap="none">
                          <a:solidFill>
                            <a:srgbClr val="1E3A8A"/>
                          </a:solidFill>
                          <a:latin typeface="Poppins"/>
                          <a:ea typeface="Poppins"/>
                          <a:cs typeface="Poppins"/>
                          <a:sym typeface="Poppins"/>
                        </a:rPr>
                        <a:t>Politique</a:t>
                      </a:r>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Surveillance accrue des gouvernements sur l'addiction aux écrans et protection des mineurs.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Nécessité absolue d'adapter le contenu (</a:t>
                      </a:r>
                      <a:r>
                        <a:rPr lang="en-US" sz="1200" b="1" i="0" u="none" strike="noStrike" cap="none">
                          <a:solidFill>
                            <a:srgbClr val="475569"/>
                          </a:solidFill>
                          <a:latin typeface="Lato"/>
                          <a:ea typeface="Lato"/>
                          <a:cs typeface="Lato"/>
                          <a:sym typeface="Lato"/>
                        </a:rPr>
                        <a:t>classification PEGI</a:t>
                      </a:r>
                      <a:r>
                        <a:rPr lang="en-US" sz="1200" b="0" i="0" u="none" strike="noStrike" cap="none">
                          <a:solidFill>
                            <a:srgbClr val="475569"/>
                          </a:solidFill>
                          <a:latin typeface="Lato"/>
                          <a:ea typeface="Lato"/>
                          <a:cs typeface="Lato"/>
                          <a:sym typeface="Lato"/>
                        </a:rPr>
                        <a:t>) selon les régions ciblées.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CE8"/>
                    </a:solidFill>
                  </a:tcPr>
                </a:tc>
                <a:extLst>
                  <a:ext uri="{0D108BD9-81ED-4DB2-BD59-A6C34878D82A}">
                    <a16:rowId xmlns:a16="http://schemas.microsoft.com/office/drawing/2014/main" val="10001"/>
                  </a:ext>
                </a:extLst>
              </a:tr>
              <a:tr h="899425">
                <a:tc>
                  <a:txBody>
                    <a:bodyPr/>
                    <a:lstStyle/>
                    <a:p>
                      <a:pPr marL="0" marR="0" lvl="0" indent="0" algn="l" rtl="0">
                        <a:spcBef>
                          <a:spcPts val="0"/>
                        </a:spcBef>
                        <a:spcAft>
                          <a:spcPts val="0"/>
                        </a:spcAft>
                        <a:buNone/>
                      </a:pPr>
                      <a:r>
                        <a:rPr lang="en-US" sz="1350" b="1" i="0" u="none" strike="noStrike" cap="none">
                          <a:solidFill>
                            <a:srgbClr val="1E3A8A"/>
                          </a:solidFill>
                          <a:latin typeface="Poppins"/>
                          <a:ea typeface="Poppins"/>
                          <a:cs typeface="Poppins"/>
                          <a:sym typeface="Poppins"/>
                        </a:rPr>
                        <a:t>Économique</a:t>
                      </a:r>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Période d'inflation. Explosion des budgets de développement AAA (</a:t>
                      </a:r>
                      <a:r>
                        <a:rPr lang="en-US" sz="1200" b="1" i="0" u="none" strike="noStrike" cap="none">
                          <a:solidFill>
                            <a:srgbClr val="475569"/>
                          </a:solidFill>
                          <a:latin typeface="Lato"/>
                          <a:ea typeface="Lato"/>
                          <a:cs typeface="Lato"/>
                          <a:sym typeface="Lato"/>
                        </a:rPr>
                        <a:t>100M$ à 200M$</a:t>
                      </a:r>
                      <a:r>
                        <a:rPr lang="en-US" sz="1200" b="0" i="0" u="none" strike="noStrike" cap="none">
                          <a:solidFill>
                            <a:srgbClr val="475569"/>
                          </a:solidFill>
                          <a:latin typeface="Lato"/>
                          <a:ea typeface="Lato"/>
                          <a:cs typeface="Lato"/>
                          <a:sym typeface="Lato"/>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Pas de droit à l'erreur au lancement. Obligation de rentabilité et de cibler un </a:t>
                      </a:r>
                      <a:r>
                        <a:rPr lang="en-US" sz="1200" b="1" i="0" u="none" strike="noStrike" cap="none">
                          <a:solidFill>
                            <a:srgbClr val="475569"/>
                          </a:solidFill>
                          <a:latin typeface="Lato"/>
                          <a:ea typeface="Lato"/>
                          <a:cs typeface="Lato"/>
                          <a:sym typeface="Lato"/>
                        </a:rPr>
                        <a:t>segment porteur (Action/RPG)</a:t>
                      </a:r>
                      <a:r>
                        <a:rPr lang="en-US" sz="1200" b="0" i="0" u="none" strike="noStrike" cap="none">
                          <a:solidFill>
                            <a:srgbClr val="475569"/>
                          </a:solidFill>
                          <a:latin typeface="Lato"/>
                          <a:ea typeface="Lato"/>
                          <a:cs typeface="Lato"/>
                          <a:sym typeface="Lato"/>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CE8"/>
                    </a:solidFill>
                  </a:tcPr>
                </a:tc>
                <a:extLst>
                  <a:ext uri="{0D108BD9-81ED-4DB2-BD59-A6C34878D82A}">
                    <a16:rowId xmlns:a16="http://schemas.microsoft.com/office/drawing/2014/main" val="10002"/>
                  </a:ext>
                </a:extLst>
              </a:tr>
              <a:tr h="899425">
                <a:tc>
                  <a:txBody>
                    <a:bodyPr/>
                    <a:lstStyle/>
                    <a:p>
                      <a:pPr marL="0" marR="0" lvl="0" indent="0" algn="l" rtl="0">
                        <a:spcBef>
                          <a:spcPts val="0"/>
                        </a:spcBef>
                        <a:spcAft>
                          <a:spcPts val="0"/>
                        </a:spcAft>
                        <a:buNone/>
                      </a:pPr>
                      <a:r>
                        <a:rPr lang="en-US" sz="1350" b="1" i="0" u="none" strike="noStrike" cap="none">
                          <a:solidFill>
                            <a:srgbClr val="1E3A8A"/>
                          </a:solidFill>
                          <a:latin typeface="Poppins"/>
                          <a:ea typeface="Poppins"/>
                          <a:cs typeface="Poppins"/>
                          <a:sym typeface="Poppins"/>
                        </a:rPr>
                        <a:t>Socioculturel</a:t>
                      </a:r>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Hausse de l'âge moyen (</a:t>
                      </a:r>
                      <a:r>
                        <a:rPr lang="en-US" sz="1200" b="1" i="0" u="none" strike="noStrike" cap="none">
                          <a:solidFill>
                            <a:srgbClr val="475569"/>
                          </a:solidFill>
                          <a:latin typeface="Lato"/>
                          <a:ea typeface="Lato"/>
                          <a:cs typeface="Lato"/>
                          <a:sym typeface="Lato"/>
                        </a:rPr>
                        <a:t>&gt; 30 ans</a:t>
                      </a:r>
                      <a:r>
                        <a:rPr lang="en-US" sz="1200" b="0" i="0" u="none" strike="noStrike" cap="none">
                          <a:solidFill>
                            <a:srgbClr val="475569"/>
                          </a:solidFill>
                          <a:latin typeface="Lato"/>
                          <a:ea typeface="Lato"/>
                          <a:cs typeface="Lato"/>
                          <a:sym typeface="Lato"/>
                        </a:rPr>
                        <a:t>). Le jeu vidéo est consolidé comme le loisir mondial n°1 post-COVID.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Ciblage d'une audience adulte avec un </a:t>
                      </a:r>
                      <a:r>
                        <a:rPr lang="en-US" sz="1200" b="1" i="0" u="none" strike="noStrike" cap="none">
                          <a:solidFill>
                            <a:srgbClr val="475569"/>
                          </a:solidFill>
                          <a:latin typeface="Lato"/>
                          <a:ea typeface="Lato"/>
                          <a:cs typeface="Lato"/>
                          <a:sym typeface="Lato"/>
                        </a:rPr>
                        <a:t>fort pouvoir d'achat</a:t>
                      </a:r>
                      <a:r>
                        <a:rPr lang="en-US" sz="1200" b="0" i="0" u="none" strike="noStrike" cap="none">
                          <a:solidFill>
                            <a:srgbClr val="475569"/>
                          </a:solidFill>
                          <a:latin typeface="Lato"/>
                          <a:ea typeface="Lato"/>
                          <a:cs typeface="Lato"/>
                          <a:sym typeface="Lato"/>
                        </a:rPr>
                        <a:t>, justifiant un prix de vente premium (70€-80€).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CE8"/>
                    </a:solidFill>
                  </a:tcPr>
                </a:tc>
                <a:extLst>
                  <a:ext uri="{0D108BD9-81ED-4DB2-BD59-A6C34878D82A}">
                    <a16:rowId xmlns:a16="http://schemas.microsoft.com/office/drawing/2014/main" val="10003"/>
                  </a:ext>
                </a:extLst>
              </a:tr>
              <a:tr h="899425">
                <a:tc>
                  <a:txBody>
                    <a:bodyPr/>
                    <a:lstStyle/>
                    <a:p>
                      <a:pPr marL="0" marR="0" lvl="0" indent="0" algn="l" rtl="0">
                        <a:spcBef>
                          <a:spcPts val="0"/>
                        </a:spcBef>
                        <a:spcAft>
                          <a:spcPts val="0"/>
                        </a:spcAft>
                        <a:buNone/>
                      </a:pPr>
                      <a:r>
                        <a:rPr lang="en-US" sz="1350" b="1" i="0" u="none" strike="noStrike" cap="none">
                          <a:solidFill>
                            <a:srgbClr val="1E3A8A"/>
                          </a:solidFill>
                          <a:latin typeface="Poppins"/>
                          <a:ea typeface="Poppins"/>
                          <a:cs typeface="Poppins"/>
                          <a:sym typeface="Poppins"/>
                        </a:rPr>
                        <a:t>Technologique</a:t>
                      </a:r>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Baisse du marché physique au profit du </a:t>
                      </a:r>
                      <a:r>
                        <a:rPr lang="en-US" sz="1200" b="1" i="0" u="none" strike="noStrike" cap="none">
                          <a:solidFill>
                            <a:srgbClr val="475569"/>
                          </a:solidFill>
                          <a:latin typeface="Lato"/>
                          <a:ea typeface="Lato"/>
                          <a:cs typeface="Lato"/>
                          <a:sym typeface="Lato"/>
                        </a:rPr>
                        <a:t>Digital</a:t>
                      </a:r>
                      <a:r>
                        <a:rPr lang="en-US" sz="1200" b="0" i="0" u="none" strike="noStrike" cap="none">
                          <a:solidFill>
                            <a:srgbClr val="475569"/>
                          </a:solidFill>
                          <a:latin typeface="Lato"/>
                          <a:ea typeface="Lato"/>
                          <a:cs typeface="Lato"/>
                          <a:sym typeface="Lato"/>
                        </a:rPr>
                        <a:t> et du </a:t>
                      </a:r>
                      <a:r>
                        <a:rPr lang="en-US" sz="1200" b="1" i="0" u="none" strike="noStrike" cap="none">
                          <a:solidFill>
                            <a:srgbClr val="475569"/>
                          </a:solidFill>
                          <a:latin typeface="Lato"/>
                          <a:ea typeface="Lato"/>
                          <a:cs typeface="Lato"/>
                          <a:sym typeface="Lato"/>
                        </a:rPr>
                        <a:t>Cloud Gaming</a:t>
                      </a:r>
                      <a:r>
                        <a:rPr lang="en-US" sz="1200" b="0" i="0" u="none" strike="noStrike" cap="none">
                          <a:solidFill>
                            <a:srgbClr val="475569"/>
                          </a:solidFill>
                          <a:latin typeface="Lato"/>
                          <a:ea typeface="Lato"/>
                          <a:cs typeface="Lato"/>
                          <a:sym typeface="Lato"/>
                        </a:rPr>
                        <a:t>. Arrivée de moteurs surpuissants.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Forte </a:t>
                      </a:r>
                      <a:r>
                        <a:rPr lang="en-US" sz="1200" b="1" i="0" u="none" strike="noStrike" cap="none">
                          <a:solidFill>
                            <a:srgbClr val="475569"/>
                          </a:solidFill>
                          <a:latin typeface="Lato"/>
                          <a:ea typeface="Lato"/>
                          <a:cs typeface="Lato"/>
                          <a:sym typeface="Lato"/>
                        </a:rPr>
                        <a:t>expertise technique requise</a:t>
                      </a:r>
                      <a:r>
                        <a:rPr lang="en-US" sz="1200" b="0" i="0" u="none" strike="noStrike" cap="none">
                          <a:solidFill>
                            <a:srgbClr val="475569"/>
                          </a:solidFill>
                          <a:latin typeface="Lato"/>
                          <a:ea typeface="Lato"/>
                          <a:cs typeface="Lato"/>
                          <a:sym typeface="Lato"/>
                        </a:rPr>
                        <a:t> (Unreal Engine 5). Modèle de distribution dématérialisée à privilégier.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CE8"/>
                    </a:solidFill>
                  </a:tcPr>
                </a:tc>
                <a:extLst>
                  <a:ext uri="{0D108BD9-81ED-4DB2-BD59-A6C34878D82A}">
                    <a16:rowId xmlns:a16="http://schemas.microsoft.com/office/drawing/2014/main" val="10004"/>
                  </a:ext>
                </a:extLst>
              </a:tr>
              <a:tr h="899425">
                <a:tc>
                  <a:txBody>
                    <a:bodyPr/>
                    <a:lstStyle/>
                    <a:p>
                      <a:pPr marL="0" marR="0" lvl="0" indent="0" algn="l" rtl="0">
                        <a:spcBef>
                          <a:spcPts val="0"/>
                        </a:spcBef>
                        <a:spcAft>
                          <a:spcPts val="0"/>
                        </a:spcAft>
                        <a:buNone/>
                      </a:pPr>
                      <a:r>
                        <a:rPr lang="en-US" sz="1350" b="1" i="0" u="none" strike="noStrike" cap="none">
                          <a:solidFill>
                            <a:srgbClr val="1E3A8A"/>
                          </a:solidFill>
                          <a:latin typeface="Poppins"/>
                          <a:ea typeface="Poppins"/>
                          <a:cs typeface="Poppins"/>
                          <a:sym typeface="Poppins"/>
                        </a:rPr>
                        <a:t>Environnemental</a:t>
                      </a:r>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Impact carbone lourd dû à la fabrication des consoles et à la consommation des data centers (Cloud).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Opportunité de se démarquer avec une communication sur un développement </a:t>
                      </a:r>
                      <a:r>
                        <a:rPr lang="en-US" sz="1200" b="1" i="0" u="none" strike="noStrike" cap="none">
                          <a:solidFill>
                            <a:srgbClr val="475569"/>
                          </a:solidFill>
                          <a:latin typeface="Lato"/>
                          <a:ea typeface="Lato"/>
                          <a:cs typeface="Lato"/>
                          <a:sym typeface="Lato"/>
                        </a:rPr>
                        <a:t>éco-responsable et optimisé</a:t>
                      </a:r>
                      <a:r>
                        <a:rPr lang="en-US" sz="1200" b="0" i="0" u="none" strike="noStrike" cap="none">
                          <a:solidFill>
                            <a:srgbClr val="475569"/>
                          </a:solidFill>
                          <a:latin typeface="Lato"/>
                          <a:ea typeface="Lato"/>
                          <a:cs typeface="Lato"/>
                          <a:sym typeface="Lato"/>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CE8"/>
                    </a:solidFill>
                  </a:tcPr>
                </a:tc>
                <a:extLst>
                  <a:ext uri="{0D108BD9-81ED-4DB2-BD59-A6C34878D82A}">
                    <a16:rowId xmlns:a16="http://schemas.microsoft.com/office/drawing/2014/main" val="10005"/>
                  </a:ext>
                </a:extLst>
              </a:tr>
              <a:tr h="899425">
                <a:tc>
                  <a:txBody>
                    <a:bodyPr/>
                    <a:lstStyle/>
                    <a:p>
                      <a:pPr marL="0" marR="0" lvl="0" indent="0" algn="l" rtl="0">
                        <a:spcBef>
                          <a:spcPts val="0"/>
                        </a:spcBef>
                        <a:spcAft>
                          <a:spcPts val="0"/>
                        </a:spcAft>
                        <a:buNone/>
                      </a:pPr>
                      <a:r>
                        <a:rPr lang="en-US" sz="1350" b="1" i="0" u="none" strike="noStrike" cap="none">
                          <a:solidFill>
                            <a:srgbClr val="1E3A8A"/>
                          </a:solidFill>
                          <a:latin typeface="Poppins"/>
                          <a:ea typeface="Poppins"/>
                          <a:cs typeface="Poppins"/>
                          <a:sym typeface="Poppins"/>
                        </a:rPr>
                        <a:t>Légal</a:t>
                      </a:r>
                      <a:endParaRPr/>
                    </a:p>
                  </a:txBody>
                  <a:tcPr marL="4191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Législation stricte de l'UE contre les </a:t>
                      </a:r>
                      <a:r>
                        <a:rPr lang="en-US" sz="1200" b="1" i="0" u="none" strike="noStrike" cap="none">
                          <a:solidFill>
                            <a:srgbClr val="475569"/>
                          </a:solidFill>
                          <a:latin typeface="Lato"/>
                          <a:ea typeface="Lato"/>
                          <a:cs typeface="Lato"/>
                          <a:sym typeface="Lato"/>
                        </a:rPr>
                        <a:t>Loot boxes</a:t>
                      </a:r>
                      <a:r>
                        <a:rPr lang="en-US" sz="1200" b="0" i="0" u="none" strike="noStrike" cap="none">
                          <a:solidFill>
                            <a:srgbClr val="475569"/>
                          </a:solidFill>
                          <a:latin typeface="Lato"/>
                          <a:ea typeface="Lato"/>
                          <a:cs typeface="Lato"/>
                          <a:sym typeface="Lato"/>
                        </a:rPr>
                        <a:t> (jeux d'argent) et le "Crunch" (droit du travail).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rgbClr val="475569"/>
                          </a:solidFill>
                          <a:latin typeface="Lato"/>
                          <a:ea typeface="Lato"/>
                          <a:cs typeface="Lato"/>
                          <a:sym typeface="Lato"/>
                        </a:rPr>
                        <a:t>Conception d'un modèle économique </a:t>
                      </a:r>
                      <a:r>
                        <a:rPr lang="en-US" sz="1200" b="1" i="0" u="none" strike="noStrike" cap="none">
                          <a:solidFill>
                            <a:srgbClr val="475569"/>
                          </a:solidFill>
                          <a:latin typeface="Lato"/>
                          <a:ea typeface="Lato"/>
                          <a:cs typeface="Lato"/>
                          <a:sym typeface="Lato"/>
                        </a:rPr>
                        <a:t>transparent</a:t>
                      </a:r>
                      <a:r>
                        <a:rPr lang="en-US" sz="1200" b="0" i="0" u="none" strike="noStrike" cap="none">
                          <a:solidFill>
                            <a:srgbClr val="475569"/>
                          </a:solidFill>
                          <a:latin typeface="Lato"/>
                          <a:ea typeface="Lato"/>
                          <a:cs typeface="Lato"/>
                          <a:sym typeface="Lato"/>
                        </a:rPr>
                        <a:t> (sans achats intégrés abusifs) et respect de l'éthique de travail.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FCE8"/>
                    </a:solidFill>
                  </a:tcPr>
                </a:tc>
                <a:extLst>
                  <a:ext uri="{0D108BD9-81ED-4DB2-BD59-A6C34878D82A}">
                    <a16:rowId xmlns:a16="http://schemas.microsoft.com/office/drawing/2014/main" val="10006"/>
                  </a:ext>
                </a:extLst>
              </a:tr>
            </a:tbl>
          </a:graphicData>
        </a:graphic>
      </p:graphicFrame>
      <p:sp>
        <p:nvSpPr>
          <p:cNvPr id="259" name="Google Shape;259;p30"/>
          <p:cNvSpPr/>
          <p:nvPr/>
        </p:nvSpPr>
        <p:spPr>
          <a:xfrm>
            <a:off x="771525" y="2733675"/>
            <a:ext cx="2014500" cy="1920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30"/>
          <p:cNvSpPr/>
          <p:nvPr/>
        </p:nvSpPr>
        <p:spPr>
          <a:xfrm>
            <a:off x="2786062" y="2733675"/>
            <a:ext cx="4555926"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30"/>
          <p:cNvSpPr/>
          <p:nvPr/>
        </p:nvSpPr>
        <p:spPr>
          <a:xfrm>
            <a:off x="7341989" y="2733675"/>
            <a:ext cx="4078485" cy="19050"/>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30"/>
          <p:cNvSpPr/>
          <p:nvPr/>
        </p:nvSpPr>
        <p:spPr>
          <a:xfrm>
            <a:off x="771525" y="3557587"/>
            <a:ext cx="20145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30"/>
          <p:cNvSpPr/>
          <p:nvPr/>
        </p:nvSpPr>
        <p:spPr>
          <a:xfrm>
            <a:off x="2776537" y="2752725"/>
            <a:ext cx="9525" cy="814387"/>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30"/>
          <p:cNvSpPr/>
          <p:nvPr/>
        </p:nvSpPr>
        <p:spPr>
          <a:xfrm>
            <a:off x="2786062" y="3557587"/>
            <a:ext cx="45559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30"/>
          <p:cNvSpPr/>
          <p:nvPr/>
        </p:nvSpPr>
        <p:spPr>
          <a:xfrm>
            <a:off x="7332464" y="2752725"/>
            <a:ext cx="9525" cy="814387"/>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30"/>
          <p:cNvSpPr/>
          <p:nvPr/>
        </p:nvSpPr>
        <p:spPr>
          <a:xfrm>
            <a:off x="7341989" y="3557587"/>
            <a:ext cx="40784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30"/>
          <p:cNvSpPr/>
          <p:nvPr/>
        </p:nvSpPr>
        <p:spPr>
          <a:xfrm>
            <a:off x="771525" y="4595812"/>
            <a:ext cx="20145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8" name="Google Shape;268;p30"/>
          <p:cNvSpPr/>
          <p:nvPr/>
        </p:nvSpPr>
        <p:spPr>
          <a:xfrm>
            <a:off x="2776537" y="3567112"/>
            <a:ext cx="9525" cy="10382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30"/>
          <p:cNvSpPr/>
          <p:nvPr/>
        </p:nvSpPr>
        <p:spPr>
          <a:xfrm>
            <a:off x="2786062" y="4595812"/>
            <a:ext cx="45559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30"/>
          <p:cNvSpPr/>
          <p:nvPr/>
        </p:nvSpPr>
        <p:spPr>
          <a:xfrm>
            <a:off x="7332464" y="3567112"/>
            <a:ext cx="9525" cy="10382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30"/>
          <p:cNvSpPr/>
          <p:nvPr/>
        </p:nvSpPr>
        <p:spPr>
          <a:xfrm>
            <a:off x="7341989" y="4595812"/>
            <a:ext cx="40784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30"/>
          <p:cNvSpPr/>
          <p:nvPr/>
        </p:nvSpPr>
        <p:spPr>
          <a:xfrm>
            <a:off x="771525" y="5405437"/>
            <a:ext cx="20145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30"/>
          <p:cNvSpPr/>
          <p:nvPr/>
        </p:nvSpPr>
        <p:spPr>
          <a:xfrm>
            <a:off x="2776537" y="4605337"/>
            <a:ext cx="9525" cy="8096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30"/>
          <p:cNvSpPr/>
          <p:nvPr/>
        </p:nvSpPr>
        <p:spPr>
          <a:xfrm>
            <a:off x="2786062" y="5405437"/>
            <a:ext cx="45559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30"/>
          <p:cNvSpPr/>
          <p:nvPr/>
        </p:nvSpPr>
        <p:spPr>
          <a:xfrm>
            <a:off x="7332464" y="4605337"/>
            <a:ext cx="9525" cy="8096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30"/>
          <p:cNvSpPr/>
          <p:nvPr/>
        </p:nvSpPr>
        <p:spPr>
          <a:xfrm>
            <a:off x="7341989" y="5405437"/>
            <a:ext cx="40784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30"/>
          <p:cNvSpPr/>
          <p:nvPr/>
        </p:nvSpPr>
        <p:spPr>
          <a:xfrm>
            <a:off x="771525" y="6272212"/>
            <a:ext cx="20145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30"/>
          <p:cNvSpPr/>
          <p:nvPr/>
        </p:nvSpPr>
        <p:spPr>
          <a:xfrm>
            <a:off x="2776537" y="5414962"/>
            <a:ext cx="9525" cy="8667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30"/>
          <p:cNvSpPr/>
          <p:nvPr/>
        </p:nvSpPr>
        <p:spPr>
          <a:xfrm>
            <a:off x="2786062" y="6272212"/>
            <a:ext cx="45559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30"/>
          <p:cNvSpPr/>
          <p:nvPr/>
        </p:nvSpPr>
        <p:spPr>
          <a:xfrm>
            <a:off x="7332464" y="5414962"/>
            <a:ext cx="9525" cy="8667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30"/>
          <p:cNvSpPr/>
          <p:nvPr/>
        </p:nvSpPr>
        <p:spPr>
          <a:xfrm>
            <a:off x="7341989" y="6272212"/>
            <a:ext cx="40784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30"/>
          <p:cNvSpPr/>
          <p:nvPr/>
        </p:nvSpPr>
        <p:spPr>
          <a:xfrm>
            <a:off x="771525" y="7138987"/>
            <a:ext cx="201453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30"/>
          <p:cNvSpPr/>
          <p:nvPr/>
        </p:nvSpPr>
        <p:spPr>
          <a:xfrm>
            <a:off x="2776537" y="6281737"/>
            <a:ext cx="9525" cy="8667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30"/>
          <p:cNvSpPr/>
          <p:nvPr/>
        </p:nvSpPr>
        <p:spPr>
          <a:xfrm>
            <a:off x="2786062" y="7138987"/>
            <a:ext cx="45559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30"/>
          <p:cNvSpPr/>
          <p:nvPr/>
        </p:nvSpPr>
        <p:spPr>
          <a:xfrm>
            <a:off x="7332464" y="6281737"/>
            <a:ext cx="9525" cy="8667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30"/>
          <p:cNvSpPr/>
          <p:nvPr/>
        </p:nvSpPr>
        <p:spPr>
          <a:xfrm>
            <a:off x="7341989" y="7138987"/>
            <a:ext cx="407848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30"/>
          <p:cNvSpPr/>
          <p:nvPr/>
        </p:nvSpPr>
        <p:spPr>
          <a:xfrm>
            <a:off x="2776537" y="7148512"/>
            <a:ext cx="9525" cy="103346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30"/>
          <p:cNvSpPr/>
          <p:nvPr/>
        </p:nvSpPr>
        <p:spPr>
          <a:xfrm>
            <a:off x="7332464" y="7148512"/>
            <a:ext cx="9525" cy="103346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9" name="Google Shape;289;p30" descr="image.png"/>
          <p:cNvPicPr preferRelativeResize="0"/>
          <p:nvPr/>
        </p:nvPicPr>
        <p:blipFill rotWithShape="1">
          <a:blip r:embed="rId4">
            <a:alphaModFix/>
          </a:blip>
          <a:srcRect/>
          <a:stretch/>
        </p:blipFill>
        <p:spPr>
          <a:xfrm>
            <a:off x="805800" y="6405207"/>
            <a:ext cx="228600" cy="167634"/>
          </a:xfrm>
          <a:prstGeom prst="rect">
            <a:avLst/>
          </a:prstGeom>
          <a:noFill/>
          <a:ln>
            <a:noFill/>
          </a:ln>
        </p:spPr>
      </p:pic>
      <p:pic>
        <p:nvPicPr>
          <p:cNvPr id="290" name="Google Shape;290;p30" descr="image.png"/>
          <p:cNvPicPr preferRelativeResize="0"/>
          <p:nvPr/>
        </p:nvPicPr>
        <p:blipFill rotWithShape="1">
          <a:blip r:embed="rId5">
            <a:alphaModFix/>
          </a:blip>
          <a:srcRect/>
          <a:stretch/>
        </p:blipFill>
        <p:spPr>
          <a:xfrm>
            <a:off x="771525" y="2786388"/>
            <a:ext cx="228600" cy="167634"/>
          </a:xfrm>
          <a:prstGeom prst="rect">
            <a:avLst/>
          </a:prstGeom>
          <a:noFill/>
          <a:ln>
            <a:noFill/>
          </a:ln>
        </p:spPr>
      </p:pic>
      <p:pic>
        <p:nvPicPr>
          <p:cNvPr id="291" name="Google Shape;291;p30" descr="image.png"/>
          <p:cNvPicPr preferRelativeResize="0"/>
          <p:nvPr/>
        </p:nvPicPr>
        <p:blipFill rotWithShape="1">
          <a:blip r:embed="rId6">
            <a:alphaModFix/>
          </a:blip>
          <a:srcRect/>
          <a:stretch/>
        </p:blipFill>
        <p:spPr>
          <a:xfrm>
            <a:off x="771525" y="5527772"/>
            <a:ext cx="228600" cy="167634"/>
          </a:xfrm>
          <a:prstGeom prst="rect">
            <a:avLst/>
          </a:prstGeom>
          <a:noFill/>
          <a:ln>
            <a:noFill/>
          </a:ln>
        </p:spPr>
      </p:pic>
      <p:pic>
        <p:nvPicPr>
          <p:cNvPr id="292" name="Google Shape;292;p30" descr="image.png"/>
          <p:cNvPicPr preferRelativeResize="0"/>
          <p:nvPr/>
        </p:nvPicPr>
        <p:blipFill rotWithShape="1">
          <a:blip r:embed="rId7">
            <a:alphaModFix/>
          </a:blip>
          <a:srcRect/>
          <a:stretch/>
        </p:blipFill>
        <p:spPr>
          <a:xfrm>
            <a:off x="771525" y="4595803"/>
            <a:ext cx="228600" cy="167634"/>
          </a:xfrm>
          <a:prstGeom prst="rect">
            <a:avLst/>
          </a:prstGeom>
          <a:noFill/>
          <a:ln>
            <a:noFill/>
          </a:ln>
        </p:spPr>
      </p:pic>
      <p:pic>
        <p:nvPicPr>
          <p:cNvPr id="293" name="Google Shape;293;p30" descr="image.png"/>
          <p:cNvPicPr preferRelativeResize="0"/>
          <p:nvPr/>
        </p:nvPicPr>
        <p:blipFill rotWithShape="1">
          <a:blip r:embed="rId8">
            <a:alphaModFix/>
          </a:blip>
          <a:srcRect/>
          <a:stretch/>
        </p:blipFill>
        <p:spPr>
          <a:xfrm>
            <a:off x="771525" y="3726572"/>
            <a:ext cx="228600" cy="167634"/>
          </a:xfrm>
          <a:prstGeom prst="rect">
            <a:avLst/>
          </a:prstGeom>
          <a:noFill/>
          <a:ln>
            <a:noFill/>
          </a:ln>
        </p:spPr>
      </p:pic>
      <p:pic>
        <p:nvPicPr>
          <p:cNvPr id="294" name="Google Shape;294;p30" descr="image.png"/>
          <p:cNvPicPr preferRelativeResize="0"/>
          <p:nvPr/>
        </p:nvPicPr>
        <p:blipFill rotWithShape="1">
          <a:blip r:embed="rId9">
            <a:alphaModFix/>
          </a:blip>
          <a:srcRect/>
          <a:stretch/>
        </p:blipFill>
        <p:spPr>
          <a:xfrm>
            <a:off x="771525" y="1925366"/>
            <a:ext cx="228600" cy="16763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8"/>
        <p:cNvGrpSpPr/>
        <p:nvPr/>
      </p:nvGrpSpPr>
      <p:grpSpPr>
        <a:xfrm>
          <a:off x="0" y="0"/>
          <a:ext cx="0" cy="0"/>
          <a:chOff x="0" y="0"/>
          <a:chExt cx="0" cy="0"/>
        </a:xfrm>
      </p:grpSpPr>
      <p:pic>
        <p:nvPicPr>
          <p:cNvPr id="299" name="Google Shape;299;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0" name="Google Shape;300;p31" descr="image.png"/>
          <p:cNvPicPr preferRelativeResize="0"/>
          <p:nvPr/>
        </p:nvPicPr>
        <p:blipFill rotWithShape="1">
          <a:blip r:embed="rId4">
            <a:alphaModFix/>
          </a:blip>
          <a:srcRect/>
          <a:stretch/>
        </p:blipFill>
        <p:spPr>
          <a:xfrm>
            <a:off x="762000" y="1876425"/>
            <a:ext cx="5191125" cy="2062162"/>
          </a:xfrm>
          <a:prstGeom prst="rect">
            <a:avLst/>
          </a:prstGeom>
          <a:noFill/>
          <a:ln>
            <a:noFill/>
          </a:ln>
        </p:spPr>
      </p:pic>
      <p:pic>
        <p:nvPicPr>
          <p:cNvPr id="301" name="Google Shape;301;p31" descr="image.png"/>
          <p:cNvPicPr preferRelativeResize="0"/>
          <p:nvPr/>
        </p:nvPicPr>
        <p:blipFill rotWithShape="1">
          <a:blip r:embed="rId5">
            <a:alphaModFix/>
          </a:blip>
          <a:srcRect/>
          <a:stretch/>
        </p:blipFill>
        <p:spPr>
          <a:xfrm>
            <a:off x="6238875" y="1876425"/>
            <a:ext cx="5191125" cy="2062162"/>
          </a:xfrm>
          <a:prstGeom prst="rect">
            <a:avLst/>
          </a:prstGeom>
          <a:noFill/>
          <a:ln>
            <a:noFill/>
          </a:ln>
        </p:spPr>
      </p:pic>
      <p:pic>
        <p:nvPicPr>
          <p:cNvPr id="302" name="Google Shape;302;p31" descr="image.png"/>
          <p:cNvPicPr preferRelativeResize="0"/>
          <p:nvPr/>
        </p:nvPicPr>
        <p:blipFill rotWithShape="1">
          <a:blip r:embed="rId6">
            <a:alphaModFix/>
          </a:blip>
          <a:srcRect/>
          <a:stretch/>
        </p:blipFill>
        <p:spPr>
          <a:xfrm>
            <a:off x="762000" y="4224337"/>
            <a:ext cx="5191125" cy="2222182"/>
          </a:xfrm>
          <a:prstGeom prst="rect">
            <a:avLst/>
          </a:prstGeom>
          <a:noFill/>
          <a:ln>
            <a:noFill/>
          </a:ln>
        </p:spPr>
      </p:pic>
      <p:pic>
        <p:nvPicPr>
          <p:cNvPr id="303" name="Google Shape;303;p31" descr="image.png"/>
          <p:cNvPicPr preferRelativeResize="0"/>
          <p:nvPr/>
        </p:nvPicPr>
        <p:blipFill rotWithShape="1">
          <a:blip r:embed="rId7">
            <a:alphaModFix/>
          </a:blip>
          <a:srcRect/>
          <a:stretch/>
        </p:blipFill>
        <p:spPr>
          <a:xfrm>
            <a:off x="6238875" y="4224336"/>
            <a:ext cx="5191125" cy="2222183"/>
          </a:xfrm>
          <a:prstGeom prst="rect">
            <a:avLst/>
          </a:prstGeom>
          <a:noFill/>
          <a:ln>
            <a:noFill/>
          </a:ln>
        </p:spPr>
      </p:pic>
      <p:sp>
        <p:nvSpPr>
          <p:cNvPr id="304" name="Google Shape;304;p31"/>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Étude Terrain : Preuve de Concept (POC)</a:t>
            </a:r>
            <a:endParaRPr/>
          </a:p>
        </p:txBody>
      </p:sp>
      <p:sp>
        <p:nvSpPr>
          <p:cNvPr id="305" name="Google Shape;305;p31"/>
          <p:cNvSpPr txBox="1"/>
          <p:nvPr/>
        </p:nvSpPr>
        <p:spPr>
          <a:xfrm>
            <a:off x="762000" y="1266825"/>
            <a:ext cx="10668000" cy="230832"/>
          </a:xfrm>
          <a:prstGeom prst="rect">
            <a:avLst/>
          </a:prstGeom>
          <a:noFill/>
          <a:ln>
            <a:noFill/>
          </a:ln>
        </p:spPr>
        <p:txBody>
          <a:bodyPr spcFirstLastPara="1" wrap="square" lIns="0" tIns="0" rIns="0" bIns="0" anchor="t" anchorCtr="0">
            <a:spAutoFit/>
          </a:bodyPr>
          <a:lstStyle/>
          <a:p>
            <a:pPr lvl="0"/>
            <a:r>
              <a:rPr lang="en-US" sz="1500" b="0" i="0" u="none" strike="noStrike" cap="none" dirty="0">
                <a:solidFill>
                  <a:srgbClr val="64748B"/>
                </a:solidFill>
                <a:latin typeface="Lato"/>
                <a:ea typeface="Lato"/>
                <a:cs typeface="Lato"/>
                <a:sym typeface="Lato"/>
              </a:rPr>
              <a:t>Validation de </a:t>
            </a:r>
            <a:r>
              <a:rPr lang="en-US" sz="1500" b="0" i="0" u="none" strike="noStrike" cap="none" dirty="0" err="1">
                <a:solidFill>
                  <a:srgbClr val="64748B"/>
                </a:solidFill>
                <a:latin typeface="Lato"/>
                <a:ea typeface="Lato"/>
                <a:cs typeface="Lato"/>
                <a:sym typeface="Lato"/>
              </a:rPr>
              <a:t>nos</a:t>
            </a:r>
            <a:r>
              <a:rPr lang="en-US" sz="1500" b="0" i="0" u="none" strike="noStrike" cap="none" dirty="0">
                <a:solidFill>
                  <a:srgbClr val="64748B"/>
                </a:solidFill>
                <a:latin typeface="Lato"/>
                <a:ea typeface="Lato"/>
                <a:cs typeface="Lato"/>
                <a:sym typeface="Lato"/>
              </a:rPr>
              <a:t> </a:t>
            </a:r>
            <a:r>
              <a:rPr lang="en-US" sz="1500" b="0" i="0" u="none" strike="noStrike" cap="none" dirty="0" err="1">
                <a:solidFill>
                  <a:srgbClr val="64748B"/>
                </a:solidFill>
                <a:latin typeface="Lato"/>
                <a:ea typeface="Lato"/>
                <a:cs typeface="Lato"/>
                <a:sym typeface="Lato"/>
              </a:rPr>
              <a:t>hypothèses</a:t>
            </a:r>
            <a:r>
              <a:rPr lang="en-US" sz="1500" b="0" i="0" u="none" strike="noStrike" cap="none" dirty="0">
                <a:solidFill>
                  <a:srgbClr val="64748B"/>
                </a:solidFill>
                <a:latin typeface="Lato"/>
                <a:ea typeface="Lato"/>
                <a:cs typeface="Lato"/>
                <a:sym typeface="Lato"/>
              </a:rPr>
              <a:t> Data et PESTEL via un sondage </a:t>
            </a:r>
            <a:r>
              <a:rPr lang="en-US" sz="1500" b="0" i="0" u="none" strike="noStrike" cap="none" dirty="0" err="1">
                <a:solidFill>
                  <a:srgbClr val="64748B"/>
                </a:solidFill>
                <a:latin typeface="Lato"/>
                <a:ea typeface="Lato"/>
                <a:cs typeface="Lato"/>
                <a:sym typeface="Lato"/>
              </a:rPr>
              <a:t>quantitatif</a:t>
            </a:r>
            <a:r>
              <a:rPr lang="en-US" sz="1500" b="0" i="0" u="none" strike="noStrike" cap="none" dirty="0">
                <a:solidFill>
                  <a:srgbClr val="64748B"/>
                </a:solidFill>
                <a:latin typeface="Lato"/>
                <a:ea typeface="Lato"/>
                <a:cs typeface="Lato"/>
                <a:sym typeface="Lato"/>
              </a:rPr>
              <a:t> </a:t>
            </a:r>
            <a:r>
              <a:rPr lang="en-US" sz="1500" b="0" i="0" u="none" strike="noStrike" cap="none" dirty="0" err="1">
                <a:solidFill>
                  <a:srgbClr val="64748B"/>
                </a:solidFill>
                <a:latin typeface="Lato"/>
                <a:ea typeface="Lato"/>
                <a:cs typeface="Lato"/>
                <a:sym typeface="Lato"/>
              </a:rPr>
              <a:t>auprès</a:t>
            </a:r>
            <a:r>
              <a:rPr lang="en-US" sz="1500" b="0" i="0" u="none" strike="noStrike" cap="none" dirty="0">
                <a:solidFill>
                  <a:srgbClr val="64748B"/>
                </a:solidFill>
                <a:latin typeface="Lato"/>
                <a:ea typeface="Lato"/>
                <a:cs typeface="Lato"/>
                <a:sym typeface="Lato"/>
              </a:rPr>
              <a:t> des </a:t>
            </a:r>
            <a:r>
              <a:rPr lang="en-US" sz="1500" b="0" i="0" u="none" strike="noStrike" cap="none" dirty="0" err="1">
                <a:solidFill>
                  <a:srgbClr val="64748B"/>
                </a:solidFill>
                <a:latin typeface="Lato"/>
                <a:ea typeface="Lato"/>
                <a:cs typeface="Lato"/>
                <a:sym typeface="Lato"/>
              </a:rPr>
              <a:t>joueurs</a:t>
            </a:r>
            <a:r>
              <a:rPr lang="en-US" sz="1500" b="0" i="0" u="none" strike="noStrike" cap="none" dirty="0">
                <a:solidFill>
                  <a:srgbClr val="64748B"/>
                </a:solidFill>
                <a:latin typeface="Lato"/>
                <a:ea typeface="Lato"/>
                <a:cs typeface="Lato"/>
                <a:sym typeface="Lato"/>
              </a:rPr>
              <a:t>.</a:t>
            </a:r>
            <a:r>
              <a:rPr lang="en-US" sz="1500" dirty="0">
                <a:solidFill>
                  <a:srgbClr val="64748B"/>
                </a:solidFill>
                <a:latin typeface="Lato"/>
                <a:ea typeface="Lato"/>
                <a:cs typeface="Lato"/>
                <a:sym typeface="Lato"/>
              </a:rPr>
              <a:t> </a:t>
            </a:r>
            <a:r>
              <a:rPr lang="en-US" sz="1000" i="1" dirty="0">
                <a:solidFill>
                  <a:srgbClr val="64748B"/>
                </a:solidFill>
                <a:latin typeface="Lato"/>
                <a:ea typeface="Lato"/>
                <a:cs typeface="Lato"/>
                <a:sym typeface="Lato"/>
              </a:rPr>
              <a:t>https://forms.gle/ZNHqKrSiZo8nKH34A</a:t>
            </a:r>
            <a:endParaRPr sz="1000" i="1" dirty="0"/>
          </a:p>
        </p:txBody>
      </p:sp>
      <p:sp>
        <p:nvSpPr>
          <p:cNvPr id="306" name="Google Shape;306;p31"/>
          <p:cNvSpPr txBox="1"/>
          <p:nvPr/>
        </p:nvSpPr>
        <p:spPr>
          <a:xfrm>
            <a:off x="1104900" y="2650331"/>
            <a:ext cx="1238400" cy="62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050" b="1">
                <a:solidFill>
                  <a:srgbClr val="2563EB"/>
                </a:solidFill>
                <a:latin typeface="Poppins"/>
                <a:ea typeface="Poppins"/>
                <a:cs typeface="Poppins"/>
                <a:sym typeface="Poppins"/>
              </a:rPr>
              <a:t>60</a:t>
            </a:r>
            <a:r>
              <a:rPr lang="en-US" sz="4050" b="1" i="0" u="none" strike="noStrike" cap="none">
                <a:solidFill>
                  <a:srgbClr val="2563EB"/>
                </a:solidFill>
                <a:latin typeface="Poppins"/>
                <a:ea typeface="Poppins"/>
                <a:cs typeface="Poppins"/>
                <a:sym typeface="Poppins"/>
              </a:rPr>
              <a:t>%</a:t>
            </a:r>
            <a:endParaRPr/>
          </a:p>
        </p:txBody>
      </p:sp>
      <p:sp>
        <p:nvSpPr>
          <p:cNvPr id="307" name="Google Shape;307;p31"/>
          <p:cNvSpPr txBox="1"/>
          <p:nvPr/>
        </p:nvSpPr>
        <p:spPr>
          <a:xfrm>
            <a:off x="6581775" y="2650331"/>
            <a:ext cx="1238400" cy="62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050" b="1">
                <a:solidFill>
                  <a:srgbClr val="2563EB"/>
                </a:solidFill>
                <a:latin typeface="Poppins"/>
                <a:ea typeface="Poppins"/>
                <a:cs typeface="Poppins"/>
                <a:sym typeface="Poppins"/>
              </a:rPr>
              <a:t>60</a:t>
            </a:r>
            <a:r>
              <a:rPr lang="en-US" sz="4050" b="1" i="0" u="none" strike="noStrike" cap="none">
                <a:solidFill>
                  <a:srgbClr val="2563EB"/>
                </a:solidFill>
                <a:latin typeface="Poppins"/>
                <a:ea typeface="Poppins"/>
                <a:cs typeface="Poppins"/>
                <a:sym typeface="Poppins"/>
              </a:rPr>
              <a:t>%</a:t>
            </a:r>
            <a:endParaRPr/>
          </a:p>
        </p:txBody>
      </p:sp>
      <p:sp>
        <p:nvSpPr>
          <p:cNvPr id="308" name="Google Shape;308;p31"/>
          <p:cNvSpPr txBox="1"/>
          <p:nvPr/>
        </p:nvSpPr>
        <p:spPr>
          <a:xfrm>
            <a:off x="1104900" y="4998243"/>
            <a:ext cx="1238400" cy="62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050" b="1">
                <a:solidFill>
                  <a:srgbClr val="2563EB"/>
                </a:solidFill>
                <a:latin typeface="Poppins"/>
                <a:ea typeface="Poppins"/>
                <a:cs typeface="Poppins"/>
                <a:sym typeface="Poppins"/>
              </a:rPr>
              <a:t>70</a:t>
            </a:r>
            <a:r>
              <a:rPr lang="en-US" sz="4050" b="1" i="0" u="none" strike="noStrike" cap="none">
                <a:solidFill>
                  <a:srgbClr val="2563EB"/>
                </a:solidFill>
                <a:latin typeface="Poppins"/>
                <a:ea typeface="Poppins"/>
                <a:cs typeface="Poppins"/>
                <a:sym typeface="Poppins"/>
              </a:rPr>
              <a:t>%</a:t>
            </a:r>
            <a:endParaRPr/>
          </a:p>
        </p:txBody>
      </p:sp>
      <p:sp>
        <p:nvSpPr>
          <p:cNvPr id="309" name="Google Shape;309;p31"/>
          <p:cNvSpPr txBox="1"/>
          <p:nvPr/>
        </p:nvSpPr>
        <p:spPr>
          <a:xfrm>
            <a:off x="6581775" y="4860131"/>
            <a:ext cx="1238400" cy="623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050" b="1" dirty="0">
                <a:solidFill>
                  <a:srgbClr val="16A34A"/>
                </a:solidFill>
                <a:latin typeface="Poppins"/>
                <a:ea typeface="Poppins"/>
                <a:cs typeface="Poppins"/>
                <a:sym typeface="Poppins"/>
              </a:rPr>
              <a:t>4</a:t>
            </a:r>
            <a:r>
              <a:rPr lang="en-US" sz="4050" b="0" i="0" u="none" strike="noStrike" cap="none" dirty="0">
                <a:solidFill>
                  <a:srgbClr val="94A3B8"/>
                </a:solidFill>
                <a:latin typeface="Poppins SemiBold"/>
                <a:ea typeface="Poppins SemiBold"/>
                <a:cs typeface="Poppins SemiBold"/>
                <a:sym typeface="Poppins SemiBold"/>
              </a:rPr>
              <a:t>/5</a:t>
            </a:r>
            <a:endParaRPr dirty="0"/>
          </a:p>
        </p:txBody>
      </p:sp>
      <p:sp>
        <p:nvSpPr>
          <p:cNvPr id="310" name="Google Shape;310;p31"/>
          <p:cNvSpPr txBox="1"/>
          <p:nvPr/>
        </p:nvSpPr>
        <p:spPr>
          <a:xfrm>
            <a:off x="2581275" y="2346573"/>
            <a:ext cx="3230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293B"/>
                </a:solidFill>
                <a:latin typeface="Poppins"/>
                <a:ea typeface="Poppins"/>
                <a:cs typeface="Poppins"/>
                <a:sym typeface="Poppins"/>
              </a:rPr>
              <a:t>Validation de la Cible</a:t>
            </a:r>
            <a:endParaRPr/>
          </a:p>
        </p:txBody>
      </p:sp>
      <p:sp>
        <p:nvSpPr>
          <p:cNvPr id="311" name="Google Shape;311;p31"/>
          <p:cNvSpPr txBox="1"/>
          <p:nvPr/>
        </p:nvSpPr>
        <p:spPr>
          <a:xfrm>
            <a:off x="2581275" y="2737098"/>
            <a:ext cx="3076500" cy="77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Des répondants correspondent à notre cible adulte (</a:t>
            </a:r>
            <a:r>
              <a:rPr lang="en-US" sz="1200" b="1" i="0" u="none" strike="noStrike" cap="none">
                <a:solidFill>
                  <a:srgbClr val="0F172A"/>
                </a:solidFill>
                <a:latin typeface="Lato"/>
                <a:ea typeface="Lato"/>
                <a:cs typeface="Lato"/>
                <a:sym typeface="Lato"/>
              </a:rPr>
              <a:t>&gt; 25 ans</a:t>
            </a:r>
            <a:r>
              <a:rPr lang="en-US" sz="1200" b="0" i="0" u="none" strike="noStrike" cap="none">
                <a:solidFill>
                  <a:srgbClr val="475569"/>
                </a:solidFill>
                <a:latin typeface="Lato"/>
                <a:ea typeface="Lato"/>
                <a:cs typeface="Lato"/>
                <a:sym typeface="Lato"/>
              </a:rPr>
              <a:t>) et jouent majoritairement sur les écosystèmes </a:t>
            </a:r>
            <a:r>
              <a:rPr lang="en-US" sz="1200" b="1" i="0" u="none" strike="noStrike" cap="none">
                <a:solidFill>
                  <a:srgbClr val="0F172A"/>
                </a:solidFill>
                <a:latin typeface="Lato"/>
                <a:ea typeface="Lato"/>
                <a:cs typeface="Lato"/>
                <a:sym typeface="Lato"/>
              </a:rPr>
              <a:t>PC et PlayStation</a:t>
            </a:r>
            <a:r>
              <a:rPr lang="en-US" sz="1200" b="0" i="0" u="none" strike="noStrike" cap="none">
                <a:solidFill>
                  <a:srgbClr val="475569"/>
                </a:solidFill>
                <a:latin typeface="Lato"/>
                <a:ea typeface="Lato"/>
                <a:cs typeface="Lato"/>
                <a:sym typeface="Lato"/>
              </a:rPr>
              <a:t>.</a:t>
            </a:r>
            <a:endParaRPr/>
          </a:p>
        </p:txBody>
      </p:sp>
      <p:sp>
        <p:nvSpPr>
          <p:cNvPr id="312" name="Google Shape;312;p31"/>
          <p:cNvSpPr txBox="1"/>
          <p:nvPr/>
        </p:nvSpPr>
        <p:spPr>
          <a:xfrm>
            <a:off x="8058150" y="2346573"/>
            <a:ext cx="3230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293B"/>
                </a:solidFill>
                <a:latin typeface="Poppins"/>
                <a:ea typeface="Poppins"/>
                <a:cs typeface="Poppins"/>
                <a:sym typeface="Poppins"/>
              </a:rPr>
              <a:t>Plébiscite du Genre</a:t>
            </a:r>
            <a:endParaRPr/>
          </a:p>
        </p:txBody>
      </p:sp>
      <p:sp>
        <p:nvSpPr>
          <p:cNvPr id="313" name="Google Shape;313;p31"/>
          <p:cNvSpPr txBox="1"/>
          <p:nvPr/>
        </p:nvSpPr>
        <p:spPr>
          <a:xfrm>
            <a:off x="8058150" y="2737098"/>
            <a:ext cx="3076500" cy="77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Ont sélectionné l'</a:t>
            </a:r>
            <a:r>
              <a:rPr lang="en-US" sz="1200" b="1" i="0" u="none" strike="noStrike" cap="none">
                <a:solidFill>
                  <a:srgbClr val="0F172A"/>
                </a:solidFill>
                <a:latin typeface="Lato"/>
                <a:ea typeface="Lato"/>
                <a:cs typeface="Lato"/>
                <a:sym typeface="Lato"/>
              </a:rPr>
              <a:t>Action / Aventure</a:t>
            </a:r>
            <a:r>
              <a:rPr lang="en-US" sz="1200" b="0" i="0" u="none" strike="noStrike" cap="none">
                <a:solidFill>
                  <a:srgbClr val="475569"/>
                </a:solidFill>
                <a:latin typeface="Lato"/>
                <a:ea typeface="Lato"/>
                <a:cs typeface="Lato"/>
                <a:sym typeface="Lato"/>
              </a:rPr>
              <a:t> ou le </a:t>
            </a:r>
            <a:r>
              <a:rPr lang="en-US" sz="1200" b="1" i="0" u="none" strike="noStrike" cap="none">
                <a:solidFill>
                  <a:srgbClr val="0F172A"/>
                </a:solidFill>
                <a:latin typeface="Lato"/>
                <a:ea typeface="Lato"/>
                <a:cs typeface="Lato"/>
                <a:sym typeface="Lato"/>
              </a:rPr>
              <a:t>RPG</a:t>
            </a:r>
            <a:r>
              <a:rPr lang="en-US" sz="1200" b="0" i="0" u="none" strike="noStrike" cap="none">
                <a:solidFill>
                  <a:srgbClr val="475569"/>
                </a:solidFill>
                <a:latin typeface="Lato"/>
                <a:ea typeface="Lato"/>
                <a:cs typeface="Lato"/>
                <a:sym typeface="Lato"/>
              </a:rPr>
              <a:t> comme étant leurs genres de prédilection absolus pour un jeu AAA.</a:t>
            </a:r>
            <a:endParaRPr/>
          </a:p>
        </p:txBody>
      </p:sp>
      <p:sp>
        <p:nvSpPr>
          <p:cNvPr id="314" name="Google Shape;314;p31"/>
          <p:cNvSpPr txBox="1"/>
          <p:nvPr/>
        </p:nvSpPr>
        <p:spPr>
          <a:xfrm>
            <a:off x="2581275" y="4572595"/>
            <a:ext cx="3230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293B"/>
                </a:solidFill>
                <a:latin typeface="Poppins"/>
                <a:ea typeface="Poppins"/>
                <a:cs typeface="Poppins"/>
                <a:sym typeface="Poppins"/>
              </a:rPr>
              <a:t>Rejet du Freemium</a:t>
            </a:r>
            <a:endParaRPr/>
          </a:p>
        </p:txBody>
      </p:sp>
      <p:sp>
        <p:nvSpPr>
          <p:cNvPr id="315" name="Google Shape;315;p31"/>
          <p:cNvSpPr txBox="1"/>
          <p:nvPr/>
        </p:nvSpPr>
        <p:spPr>
          <a:xfrm>
            <a:off x="2581275" y="4963120"/>
            <a:ext cx="3076500" cy="1071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75569"/>
                </a:solidFill>
                <a:latin typeface="Lato"/>
                <a:ea typeface="Lato"/>
                <a:cs typeface="Lato"/>
                <a:sym typeface="Lato"/>
              </a:rPr>
              <a:t>Préfèrent le </a:t>
            </a:r>
            <a:r>
              <a:rPr lang="en-US" sz="1200" b="1" i="0" u="none" strike="noStrike" cap="none">
                <a:solidFill>
                  <a:srgbClr val="0F172A"/>
                </a:solidFill>
                <a:latin typeface="Lato"/>
                <a:ea typeface="Lato"/>
                <a:cs typeface="Lato"/>
                <a:sym typeface="Lato"/>
              </a:rPr>
              <a:t>modèle Premium</a:t>
            </a:r>
            <a:r>
              <a:rPr lang="en-US" sz="1200" b="0" i="0" u="none" strike="noStrike" cap="none">
                <a:solidFill>
                  <a:srgbClr val="475569"/>
                </a:solidFill>
                <a:latin typeface="Lato"/>
                <a:ea typeface="Lato"/>
                <a:cs typeface="Lato"/>
                <a:sym typeface="Lato"/>
              </a:rPr>
              <a:t> (payer le jeu complet au prix fort) pour garantir une expérience sans microtransactions ni Loot-boxes.</a:t>
            </a:r>
            <a:endParaRPr/>
          </a:p>
        </p:txBody>
      </p:sp>
      <p:sp>
        <p:nvSpPr>
          <p:cNvPr id="316" name="Google Shape;316;p31"/>
          <p:cNvSpPr txBox="1"/>
          <p:nvPr/>
        </p:nvSpPr>
        <p:spPr>
          <a:xfrm>
            <a:off x="8058150" y="4537323"/>
            <a:ext cx="32304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E293B"/>
                </a:solidFill>
                <a:latin typeface="Poppins"/>
                <a:ea typeface="Poppins"/>
                <a:cs typeface="Poppins"/>
                <a:sym typeface="Poppins"/>
              </a:rPr>
              <a:t>Intérêt pour "Neon Syndicate"</a:t>
            </a:r>
            <a:endParaRPr/>
          </a:p>
        </p:txBody>
      </p:sp>
      <p:sp>
        <p:nvSpPr>
          <p:cNvPr id="317" name="Google Shape;317;p31"/>
          <p:cNvSpPr txBox="1"/>
          <p:nvPr/>
        </p:nvSpPr>
        <p:spPr>
          <a:xfrm>
            <a:off x="8058150" y="5242173"/>
            <a:ext cx="3076500" cy="77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475569"/>
                </a:solidFill>
                <a:latin typeface="Lato"/>
                <a:ea typeface="Lato"/>
                <a:cs typeface="Lato"/>
                <a:sym typeface="Lato"/>
              </a:rPr>
              <a:t>C'est</a:t>
            </a:r>
            <a:r>
              <a:rPr lang="en-US" sz="1200" b="0" i="0" u="none" strike="noStrike" cap="none" dirty="0">
                <a:solidFill>
                  <a:srgbClr val="475569"/>
                </a:solidFill>
                <a:latin typeface="Lato"/>
                <a:ea typeface="Lato"/>
                <a:cs typeface="Lato"/>
                <a:sym typeface="Lato"/>
              </a:rPr>
              <a:t> la note </a:t>
            </a:r>
            <a:r>
              <a:rPr lang="en-US" sz="1200" b="0" i="0" u="none" strike="noStrike" cap="none" dirty="0" err="1">
                <a:solidFill>
                  <a:srgbClr val="475569"/>
                </a:solidFill>
                <a:latin typeface="Lato"/>
                <a:ea typeface="Lato"/>
                <a:cs typeface="Lato"/>
                <a:sym typeface="Lato"/>
              </a:rPr>
              <a:t>moyenne</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d'engouement</a:t>
            </a:r>
            <a:r>
              <a:rPr lang="en-US" sz="1200" b="0" i="0" u="none" strike="noStrike" cap="none" dirty="0">
                <a:solidFill>
                  <a:srgbClr val="475569"/>
                </a:solidFill>
                <a:latin typeface="Lato"/>
                <a:ea typeface="Lato"/>
                <a:cs typeface="Lato"/>
                <a:sym typeface="Lato"/>
              </a:rPr>
              <a:t> </a:t>
            </a:r>
            <a:r>
              <a:rPr lang="en-US" sz="1200" b="0" i="0" u="none" strike="noStrike" cap="none" dirty="0" err="1">
                <a:solidFill>
                  <a:srgbClr val="475569"/>
                </a:solidFill>
                <a:latin typeface="Lato"/>
                <a:ea typeface="Lato"/>
                <a:cs typeface="Lato"/>
                <a:sym typeface="Lato"/>
              </a:rPr>
              <a:t>générée</a:t>
            </a:r>
            <a:r>
              <a:rPr lang="en-US" sz="1200" b="0" i="0" u="none" strike="noStrike" cap="none" dirty="0">
                <a:solidFill>
                  <a:srgbClr val="475569"/>
                </a:solidFill>
                <a:latin typeface="Lato"/>
                <a:ea typeface="Lato"/>
                <a:cs typeface="Lato"/>
                <a:sym typeface="Lato"/>
              </a:rPr>
              <a:t> par </a:t>
            </a:r>
            <a:r>
              <a:rPr lang="en-US" sz="1200" b="0" i="0" u="none" strike="noStrike" cap="none" dirty="0" err="1">
                <a:solidFill>
                  <a:srgbClr val="475569"/>
                </a:solidFill>
                <a:latin typeface="Lato"/>
                <a:ea typeface="Lato"/>
                <a:cs typeface="Lato"/>
                <a:sym typeface="Lato"/>
              </a:rPr>
              <a:t>notre</a:t>
            </a:r>
            <a:r>
              <a:rPr lang="en-US" sz="1200" b="0" i="0" u="none" strike="noStrike" cap="none" dirty="0">
                <a:solidFill>
                  <a:srgbClr val="475569"/>
                </a:solidFill>
                <a:latin typeface="Lato"/>
                <a:ea typeface="Lato"/>
                <a:cs typeface="Lato"/>
                <a:sym typeface="Lato"/>
              </a:rPr>
              <a:t> pitch d'un </a:t>
            </a:r>
            <a:r>
              <a:rPr lang="en-US" sz="1200" b="1" i="0" u="none" strike="noStrike" cap="none" dirty="0">
                <a:solidFill>
                  <a:srgbClr val="0F172A"/>
                </a:solidFill>
                <a:latin typeface="Lato"/>
                <a:ea typeface="Lato"/>
                <a:cs typeface="Lato"/>
                <a:sym typeface="Lato"/>
              </a:rPr>
              <a:t>Action-RPG Cyberpunk AAA</a:t>
            </a:r>
            <a:r>
              <a:rPr lang="en-US" sz="1200" b="0" i="0" u="none" strike="noStrike" cap="none" dirty="0">
                <a:solidFill>
                  <a:srgbClr val="475569"/>
                </a:solidFill>
                <a:latin typeface="Lato"/>
                <a:ea typeface="Lato"/>
                <a:cs typeface="Lato"/>
                <a:sym typeface="Lato"/>
              </a:rPr>
              <a:t>. Le concept rencontre son public.</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1"/>
        <p:cNvGrpSpPr/>
        <p:nvPr/>
      </p:nvGrpSpPr>
      <p:grpSpPr>
        <a:xfrm>
          <a:off x="0" y="0"/>
          <a:ext cx="0" cy="0"/>
          <a:chOff x="0" y="0"/>
          <a:chExt cx="0" cy="0"/>
        </a:xfrm>
      </p:grpSpPr>
      <p:pic>
        <p:nvPicPr>
          <p:cNvPr id="322" name="Google Shape;322;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3" name="Google Shape;323;p32" descr="image.png"/>
          <p:cNvPicPr preferRelativeResize="0"/>
          <p:nvPr/>
        </p:nvPicPr>
        <p:blipFill rotWithShape="1">
          <a:blip r:embed="rId4">
            <a:alphaModFix/>
          </a:blip>
          <a:srcRect/>
          <a:stretch/>
        </p:blipFill>
        <p:spPr>
          <a:xfrm>
            <a:off x="762000" y="1876425"/>
            <a:ext cx="3936950" cy="4410075"/>
          </a:xfrm>
          <a:prstGeom prst="rect">
            <a:avLst/>
          </a:prstGeom>
          <a:noFill/>
          <a:ln>
            <a:noFill/>
          </a:ln>
        </p:spPr>
      </p:pic>
      <p:sp>
        <p:nvSpPr>
          <p:cNvPr id="324" name="Google Shape;324;p32"/>
          <p:cNvSpPr txBox="1"/>
          <p:nvPr/>
        </p:nvSpPr>
        <p:spPr>
          <a:xfrm>
            <a:off x="762000" y="571500"/>
            <a:ext cx="112014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F172A"/>
                </a:solidFill>
                <a:latin typeface="Poppins"/>
                <a:ea typeface="Poppins"/>
                <a:cs typeface="Poppins"/>
                <a:sym typeface="Poppins"/>
              </a:rPr>
              <a:t>Recommandations &amp; Concept de Jeu</a:t>
            </a:r>
            <a:endParaRPr/>
          </a:p>
        </p:txBody>
      </p:sp>
      <p:sp>
        <p:nvSpPr>
          <p:cNvPr id="325" name="Google Shape;325;p32"/>
          <p:cNvSpPr txBox="1"/>
          <p:nvPr/>
        </p:nvSpPr>
        <p:spPr>
          <a:xfrm>
            <a:off x="762000" y="1266825"/>
            <a:ext cx="106680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64748B"/>
                </a:solidFill>
                <a:latin typeface="Lato"/>
                <a:ea typeface="Lato"/>
                <a:cs typeface="Lato"/>
                <a:sym typeface="Lato"/>
              </a:rPr>
              <a:t>La concrétisation de l'analyse : Présentation du projet AAA d'UOI Games.</a:t>
            </a:r>
            <a:endParaRPr/>
          </a:p>
        </p:txBody>
      </p:sp>
      <p:pic>
        <p:nvPicPr>
          <p:cNvPr id="326" name="Google Shape;326;p32" descr="image.png"/>
          <p:cNvPicPr preferRelativeResize="0"/>
          <p:nvPr/>
        </p:nvPicPr>
        <p:blipFill rotWithShape="1">
          <a:blip r:embed="rId5">
            <a:alphaModFix/>
          </a:blip>
          <a:srcRect/>
          <a:stretch/>
        </p:blipFill>
        <p:spPr>
          <a:xfrm>
            <a:off x="1143000" y="2952750"/>
            <a:ext cx="285750" cy="228600"/>
          </a:xfrm>
          <a:prstGeom prst="rect">
            <a:avLst/>
          </a:prstGeom>
          <a:noFill/>
          <a:ln>
            <a:noFill/>
          </a:ln>
        </p:spPr>
      </p:pic>
      <p:sp>
        <p:nvSpPr>
          <p:cNvPr id="327" name="Google Shape;327;p32"/>
          <p:cNvSpPr txBox="1"/>
          <p:nvPr/>
        </p:nvSpPr>
        <p:spPr>
          <a:xfrm>
            <a:off x="1571625" y="2847975"/>
            <a:ext cx="15240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8FAFC"/>
                </a:solidFill>
                <a:latin typeface="Lato"/>
                <a:ea typeface="Lato"/>
                <a:cs typeface="Lato"/>
                <a:sym typeface="Lato"/>
              </a:rPr>
              <a:t>Genre</a:t>
            </a:r>
            <a:r>
              <a:rPr lang="en-US" sz="1200" b="0" i="0" u="none" strike="noStrike" cap="none">
                <a:solidFill>
                  <a:srgbClr val="94A3B8"/>
                </a:solidFill>
                <a:latin typeface="Lato"/>
                <a:ea typeface="Lato"/>
                <a:cs typeface="Lato"/>
                <a:sym typeface="Lato"/>
              </a:rPr>
              <a:t>Action-RPG / Aventure</a:t>
            </a:r>
            <a:endParaRPr/>
          </a:p>
        </p:txBody>
      </p:sp>
      <p:pic>
        <p:nvPicPr>
          <p:cNvPr id="328" name="Google Shape;328;p32" descr="image.png"/>
          <p:cNvPicPr preferRelativeResize="0"/>
          <p:nvPr/>
        </p:nvPicPr>
        <p:blipFill rotWithShape="1">
          <a:blip r:embed="rId6">
            <a:alphaModFix/>
          </a:blip>
          <a:srcRect/>
          <a:stretch/>
        </p:blipFill>
        <p:spPr>
          <a:xfrm>
            <a:off x="1143000" y="3629025"/>
            <a:ext cx="285750" cy="228600"/>
          </a:xfrm>
          <a:prstGeom prst="rect">
            <a:avLst/>
          </a:prstGeom>
          <a:noFill/>
          <a:ln>
            <a:noFill/>
          </a:ln>
        </p:spPr>
      </p:pic>
      <p:sp>
        <p:nvSpPr>
          <p:cNvPr id="329" name="Google Shape;329;p32"/>
          <p:cNvSpPr txBox="1"/>
          <p:nvPr/>
        </p:nvSpPr>
        <p:spPr>
          <a:xfrm>
            <a:off x="1571625" y="3524250"/>
            <a:ext cx="13335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8FAFC"/>
                </a:solidFill>
                <a:latin typeface="Lato"/>
                <a:ea typeface="Lato"/>
                <a:cs typeface="Lato"/>
                <a:sym typeface="Lato"/>
              </a:rPr>
              <a:t>Plateformes</a:t>
            </a:r>
            <a:r>
              <a:rPr lang="en-US" sz="1200" b="0" i="0" u="none" strike="noStrike" cap="none">
                <a:solidFill>
                  <a:srgbClr val="94A3B8"/>
                </a:solidFill>
                <a:latin typeface="Lato"/>
                <a:ea typeface="Lato"/>
                <a:cs typeface="Lato"/>
                <a:sym typeface="Lato"/>
              </a:rPr>
              <a:t>PS5, Xbox Series, PC</a:t>
            </a:r>
            <a:endParaRPr/>
          </a:p>
        </p:txBody>
      </p:sp>
      <p:pic>
        <p:nvPicPr>
          <p:cNvPr id="330" name="Google Shape;330;p32" descr="image.png"/>
          <p:cNvPicPr preferRelativeResize="0"/>
          <p:nvPr/>
        </p:nvPicPr>
        <p:blipFill rotWithShape="1">
          <a:blip r:embed="rId7">
            <a:alphaModFix/>
          </a:blip>
          <a:srcRect/>
          <a:stretch/>
        </p:blipFill>
        <p:spPr>
          <a:xfrm>
            <a:off x="1143000" y="4305300"/>
            <a:ext cx="285750" cy="228600"/>
          </a:xfrm>
          <a:prstGeom prst="rect">
            <a:avLst/>
          </a:prstGeom>
          <a:noFill/>
          <a:ln>
            <a:noFill/>
          </a:ln>
        </p:spPr>
      </p:pic>
      <p:sp>
        <p:nvSpPr>
          <p:cNvPr id="331" name="Google Shape;331;p32"/>
          <p:cNvSpPr txBox="1"/>
          <p:nvPr/>
        </p:nvSpPr>
        <p:spPr>
          <a:xfrm>
            <a:off x="1571625" y="4200525"/>
            <a:ext cx="19146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8FAFC"/>
                </a:solidFill>
                <a:latin typeface="Lato"/>
                <a:ea typeface="Lato"/>
                <a:cs typeface="Lato"/>
                <a:sym typeface="Lato"/>
              </a:rPr>
              <a:t>Modèle Éco.</a:t>
            </a:r>
            <a:r>
              <a:rPr lang="en-US" sz="1200" b="0" i="0" u="none" strike="noStrike" cap="none">
                <a:solidFill>
                  <a:srgbClr val="94A3B8"/>
                </a:solidFill>
                <a:latin typeface="Lato"/>
                <a:ea typeface="Lato"/>
                <a:cs typeface="Lato"/>
                <a:sym typeface="Lato"/>
              </a:rPr>
              <a:t>Premium (79€) sans Loot box</a:t>
            </a:r>
            <a:endParaRPr/>
          </a:p>
        </p:txBody>
      </p:sp>
      <p:pic>
        <p:nvPicPr>
          <p:cNvPr id="332" name="Google Shape;332;p32" descr="image.png"/>
          <p:cNvPicPr preferRelativeResize="0"/>
          <p:nvPr/>
        </p:nvPicPr>
        <p:blipFill rotWithShape="1">
          <a:blip r:embed="rId8">
            <a:alphaModFix/>
          </a:blip>
          <a:srcRect/>
          <a:stretch/>
        </p:blipFill>
        <p:spPr>
          <a:xfrm>
            <a:off x="1143000" y="4981575"/>
            <a:ext cx="285750" cy="228600"/>
          </a:xfrm>
          <a:prstGeom prst="rect">
            <a:avLst/>
          </a:prstGeom>
          <a:noFill/>
          <a:ln>
            <a:noFill/>
          </a:ln>
        </p:spPr>
      </p:pic>
      <p:sp>
        <p:nvSpPr>
          <p:cNvPr id="333" name="Google Shape;333;p32"/>
          <p:cNvSpPr txBox="1"/>
          <p:nvPr/>
        </p:nvSpPr>
        <p:spPr>
          <a:xfrm>
            <a:off x="1571625" y="4876800"/>
            <a:ext cx="11811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8FAFC"/>
                </a:solidFill>
                <a:latin typeface="Lato"/>
                <a:ea typeface="Lato"/>
                <a:cs typeface="Lato"/>
                <a:sym typeface="Lato"/>
              </a:rPr>
              <a:t>Cible</a:t>
            </a:r>
            <a:r>
              <a:rPr lang="en-US" sz="1200" b="0" i="0" u="none" strike="noStrike" cap="none">
                <a:solidFill>
                  <a:srgbClr val="94A3B8"/>
                </a:solidFill>
                <a:latin typeface="Lato"/>
                <a:ea typeface="Lato"/>
                <a:cs typeface="Lato"/>
                <a:sym typeface="Lato"/>
              </a:rPr>
              <a:t>Adultes (&gt; 25 ans)</a:t>
            </a:r>
            <a:endParaRPr/>
          </a:p>
        </p:txBody>
      </p:sp>
      <p:sp>
        <p:nvSpPr>
          <p:cNvPr id="334" name="Google Shape;334;p32"/>
          <p:cNvSpPr txBox="1"/>
          <p:nvPr/>
        </p:nvSpPr>
        <p:spPr>
          <a:xfrm>
            <a:off x="5422850" y="2203251"/>
            <a:ext cx="63075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E293B"/>
                </a:solidFill>
                <a:latin typeface="Poppins"/>
                <a:ea typeface="Poppins"/>
                <a:cs typeface="Poppins"/>
                <a:sym typeface="Poppins"/>
              </a:rPr>
              <a:t>Projet : </a:t>
            </a:r>
            <a:r>
              <a:rPr lang="en-US" sz="2400" b="1" i="0" u="none" strike="noStrike" cap="none">
                <a:solidFill>
                  <a:srgbClr val="2563EB"/>
                </a:solidFill>
                <a:latin typeface="Poppins"/>
                <a:ea typeface="Poppins"/>
                <a:cs typeface="Poppins"/>
                <a:sym typeface="Poppins"/>
              </a:rPr>
              <a:t>"NEON SYNDICATE"</a:t>
            </a:r>
            <a:endParaRPr/>
          </a:p>
        </p:txBody>
      </p:sp>
      <p:sp>
        <p:nvSpPr>
          <p:cNvPr id="335" name="Google Shape;335;p32"/>
          <p:cNvSpPr txBox="1"/>
          <p:nvPr/>
        </p:nvSpPr>
        <p:spPr>
          <a:xfrm>
            <a:off x="5422850" y="2803326"/>
            <a:ext cx="6007200" cy="964800"/>
          </a:xfrm>
          <a:prstGeom prst="rect">
            <a:avLst/>
          </a:prstGeom>
          <a:noFill/>
          <a:ln>
            <a:noFill/>
          </a:ln>
        </p:spPr>
        <p:txBody>
          <a:bodyPr spcFirstLastPara="1" wrap="square" lIns="0" tIns="0" rIns="0" bIns="0" anchor="t" anchorCtr="0">
            <a:spAutoFit/>
          </a:bodyPr>
          <a:lstStyle/>
          <a:p>
            <a:pPr marL="0" marR="0" lvl="0" indent="0" algn="l" rtl="0">
              <a:lnSpc>
                <a:spcPct val="169964"/>
              </a:lnSpc>
              <a:spcBef>
                <a:spcPts val="0"/>
              </a:spcBef>
              <a:spcAft>
                <a:spcPts val="0"/>
              </a:spcAft>
              <a:buNone/>
            </a:pPr>
            <a:r>
              <a:rPr lang="en-US" sz="1425" b="0" i="0" u="none" strike="noStrike" cap="none">
                <a:solidFill>
                  <a:srgbClr val="475569"/>
                </a:solidFill>
                <a:latin typeface="Lato"/>
                <a:ea typeface="Lato"/>
                <a:cs typeface="Lato"/>
                <a:sym typeface="Lato"/>
              </a:rPr>
              <a:t>Pour répondre à la demande d'immersion et au public vieillissant, notre recommandation est de créer un jeu d'Action-RPG narratif plongé dans un univers </a:t>
            </a:r>
            <a:r>
              <a:rPr lang="en-US" sz="1425" b="1" i="0" u="none" strike="noStrike" cap="none">
                <a:solidFill>
                  <a:srgbClr val="475569"/>
                </a:solidFill>
                <a:latin typeface="Lato"/>
                <a:ea typeface="Lato"/>
                <a:cs typeface="Lato"/>
                <a:sym typeface="Lato"/>
              </a:rPr>
              <a:t>Cyberpunk / Dark Sci-Fi</a:t>
            </a:r>
            <a:r>
              <a:rPr lang="en-US" sz="1425" b="0" i="0" u="none" strike="noStrike" cap="none">
                <a:solidFill>
                  <a:srgbClr val="475569"/>
                </a:solidFill>
                <a:latin typeface="Lato"/>
                <a:ea typeface="Lato"/>
                <a:cs typeface="Lato"/>
                <a:sym typeface="Lato"/>
              </a:rPr>
              <a:t>.</a:t>
            </a:r>
            <a:endParaRPr/>
          </a:p>
        </p:txBody>
      </p:sp>
      <p:sp>
        <p:nvSpPr>
          <p:cNvPr id="336" name="Google Shape;336;p32"/>
          <p:cNvSpPr txBox="1"/>
          <p:nvPr/>
        </p:nvSpPr>
        <p:spPr>
          <a:xfrm>
            <a:off x="5422850" y="3916709"/>
            <a:ext cx="6007200" cy="1710600"/>
          </a:xfrm>
          <a:prstGeom prst="rect">
            <a:avLst/>
          </a:prstGeom>
          <a:noFill/>
          <a:ln>
            <a:noFill/>
          </a:ln>
        </p:spPr>
        <p:txBody>
          <a:bodyPr spcFirstLastPara="1" wrap="square" lIns="0" tIns="0" rIns="0" bIns="0" anchor="t" anchorCtr="0">
            <a:spAutoFit/>
          </a:bodyPr>
          <a:lstStyle/>
          <a:p>
            <a:pPr marL="0" marR="0" lvl="0" indent="0" algn="l" rtl="0">
              <a:lnSpc>
                <a:spcPct val="169964"/>
              </a:lnSpc>
              <a:spcBef>
                <a:spcPts val="0"/>
              </a:spcBef>
              <a:spcAft>
                <a:spcPts val="0"/>
              </a:spcAft>
              <a:buNone/>
            </a:pPr>
            <a:r>
              <a:rPr lang="en-US" sz="1425" b="0" i="0" u="none" strike="noStrike" cap="none">
                <a:solidFill>
                  <a:srgbClr val="475569"/>
                </a:solidFill>
                <a:latin typeface="Lato"/>
                <a:ea typeface="Lato"/>
                <a:cs typeface="Lato"/>
                <a:sym typeface="Lato"/>
              </a:rPr>
              <a:t>Le jeu se concentrera sur une expérience solo spectaculaire développée sous Unreal Engine 5 pour garantir une note </a:t>
            </a:r>
            <a:r>
              <a:rPr lang="en-US" sz="1425" b="1" i="0" u="none" strike="noStrike" cap="none">
                <a:solidFill>
                  <a:srgbClr val="475569"/>
                </a:solidFill>
                <a:latin typeface="Lato"/>
                <a:ea typeface="Lato"/>
                <a:cs typeface="Lato"/>
                <a:sym typeface="Lato"/>
              </a:rPr>
              <a:t>Metacritic &gt; 85</a:t>
            </a:r>
            <a:r>
              <a:rPr lang="en-US" sz="1425" b="0" i="0" u="none" strike="noStrike" cap="none">
                <a:solidFill>
                  <a:srgbClr val="475569"/>
                </a:solidFill>
                <a:latin typeface="Lato"/>
                <a:ea typeface="Lato"/>
                <a:cs typeface="Lato"/>
                <a:sym typeface="Lato"/>
              </a:rPr>
              <a:t>. Pour respecter la loi européenne et l'éthique, le jeu ne contiendra aucune pochette surprise </a:t>
            </a:r>
            <a:r>
              <a:rPr lang="en-US" sz="1425">
                <a:solidFill>
                  <a:srgbClr val="475569"/>
                </a:solidFill>
                <a:latin typeface="Lato"/>
                <a:ea typeface="Lato"/>
                <a:cs typeface="Lato"/>
                <a:sym typeface="Lato"/>
              </a:rPr>
              <a:t>(“loot box”)</a:t>
            </a:r>
            <a:r>
              <a:rPr lang="en-US" sz="1425" b="0" i="0" u="none" strike="noStrike" cap="none">
                <a:solidFill>
                  <a:srgbClr val="475569"/>
                </a:solidFill>
                <a:latin typeface="Lato"/>
                <a:ea typeface="Lato"/>
                <a:cs typeface="Lato"/>
                <a:sym typeface="Lato"/>
              </a:rPr>
              <a:t>, mais proposera des extensions narratives (DLC) payantes pour étaler la rentabilité sur 3 ans.</a:t>
            </a:r>
            <a:endParaRPr/>
          </a:p>
        </p:txBody>
      </p:sp>
      <p:pic>
        <p:nvPicPr>
          <p:cNvPr id="337" name="Google Shape;337;p32" descr="image.png"/>
          <p:cNvPicPr preferRelativeResize="0"/>
          <p:nvPr/>
        </p:nvPicPr>
        <p:blipFill rotWithShape="1">
          <a:blip r:embed="rId9">
            <a:alphaModFix/>
          </a:blip>
          <a:srcRect/>
          <a:stretch/>
        </p:blipFill>
        <p:spPr>
          <a:xfrm>
            <a:off x="5422850" y="5775873"/>
            <a:ext cx="1047750" cy="314325"/>
          </a:xfrm>
          <a:prstGeom prst="rect">
            <a:avLst/>
          </a:prstGeom>
          <a:noFill/>
          <a:ln>
            <a:noFill/>
          </a:ln>
        </p:spPr>
      </p:pic>
      <p:pic>
        <p:nvPicPr>
          <p:cNvPr id="338" name="Google Shape;338;p32" descr="image.png"/>
          <p:cNvPicPr preferRelativeResize="0"/>
          <p:nvPr/>
        </p:nvPicPr>
        <p:blipFill rotWithShape="1">
          <a:blip r:embed="rId10">
            <a:alphaModFix/>
          </a:blip>
          <a:srcRect/>
          <a:stretch/>
        </p:blipFill>
        <p:spPr>
          <a:xfrm>
            <a:off x="6565850" y="5775873"/>
            <a:ext cx="676275" cy="314325"/>
          </a:xfrm>
          <a:prstGeom prst="rect">
            <a:avLst/>
          </a:prstGeom>
          <a:noFill/>
          <a:ln>
            <a:noFill/>
          </a:ln>
        </p:spPr>
      </p:pic>
      <p:pic>
        <p:nvPicPr>
          <p:cNvPr id="339" name="Google Shape;339;p32" descr="image.png"/>
          <p:cNvPicPr preferRelativeResize="0"/>
          <p:nvPr/>
        </p:nvPicPr>
        <p:blipFill rotWithShape="1">
          <a:blip r:embed="rId11">
            <a:alphaModFix/>
          </a:blip>
          <a:srcRect/>
          <a:stretch/>
        </p:blipFill>
        <p:spPr>
          <a:xfrm>
            <a:off x="7337375" y="5775873"/>
            <a:ext cx="933450" cy="3143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1270</Words>
  <Application>Microsoft Office PowerPoint</Application>
  <PresentationFormat>Grand écran</PresentationFormat>
  <Paragraphs>94</Paragraphs>
  <Slides>8</Slides>
  <Notes>8</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8</vt:i4>
      </vt:variant>
    </vt:vector>
  </HeadingPairs>
  <TitlesOfParts>
    <vt:vector size="15" baseType="lpstr">
      <vt:lpstr>Lato</vt:lpstr>
      <vt:lpstr>Calibri</vt:lpstr>
      <vt:lpstr>Poppins SemiBold</vt:lpstr>
      <vt:lpstr>Arial</vt:lpstr>
      <vt:lpstr>Poppins</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GHARBI</cp:lastModifiedBy>
  <cp:revision>5</cp:revision>
  <dcterms:modified xsi:type="dcterms:W3CDTF">2026-07-08T13:53:14Z</dcterms:modified>
</cp:coreProperties>
</file>