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5" r:id="rId11"/>
    <p:sldId id="264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Raleway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768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6c227a4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6c227a4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6251e9b6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6251e9b6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6251e9b6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A73222E-AD2E-5C20-F60B-8D16297B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251e9b62_0_38:notes">
            <a:extLst>
              <a:ext uri="{FF2B5EF4-FFF2-40B4-BE49-F238E27FC236}">
                <a16:creationId xmlns:a16="http://schemas.microsoft.com/office/drawing/2014/main" id="{12A272C1-B610-98ED-F32B-7BB5918F7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6251e9b62_0_38:notes">
            <a:extLst>
              <a:ext uri="{FF2B5EF4-FFF2-40B4-BE49-F238E27FC236}">
                <a16:creationId xmlns:a16="http://schemas.microsoft.com/office/drawing/2014/main" id="{E7AFADD9-860F-007C-E2C5-453523EA5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0832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251e9b6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6251e9b6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6c227a4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6c227a4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6c227a4f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36c227a4f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6c227a4f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6c227a4f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6c227a4f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6c227a4f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Plus Beaux Logis de Paris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623400" y="2612200"/>
            <a:ext cx="8520600" cy="14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-FR" sz="2400" dirty="0"/>
              <a:t>Valorisation et Stratégie du Portefeuille Immobilier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-FR" sz="22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Adam	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-FR" sz="2200" i="1" dirty="0">
                <a:solidFill>
                  <a:schemeClr val="dk1"/>
                </a:solidFill>
                <a:latin typeface="Montserrat"/>
              </a:rPr>
              <a:t>03/04/2026</a:t>
            </a:r>
            <a:endParaRPr sz="2200" i="1" dirty="0">
              <a:solidFill>
                <a:schemeClr val="dk1"/>
              </a:solidFill>
              <a:latin typeface="Montserrat"/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00" y="89925"/>
            <a:ext cx="3669750" cy="16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Montserra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B2CAB5-29A4-4E8A-DCE7-370EE3D4F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9926" y="1615818"/>
            <a:ext cx="5039121" cy="1869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Tendance temporelle :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Croissance continue des prix entre 2017 et 2020,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suivie d'une légère stagnation en 2021.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Disparité géographique :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prix au m² varient du simple au double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selon les arrondissements parisiens.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Valorisation sectorielle :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locaux commerciaux sont systématiquement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valorisés plus chers au mètre carré que les appartements.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Confirmation mathématique :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corrélation historique prouve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 la surface est le facteur numéro 1 du prix global.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845EEB-6814-F072-A307-B70E96A8B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805" y="881997"/>
            <a:ext cx="3787269" cy="369658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C1A9B94-FCE9-2A32-5A8E-83459505C5D3}"/>
              </a:ext>
            </a:extLst>
          </p:cNvPr>
          <p:cNvSpPr txBox="1"/>
          <p:nvPr/>
        </p:nvSpPr>
        <p:spPr>
          <a:xfrm>
            <a:off x="249926" y="3658960"/>
            <a:ext cx="461804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sz="1050" b="1" dirty="0">
                <a:solidFill>
                  <a:schemeClr val="tx1"/>
                </a:solidFill>
                <a:latin typeface="Arial" panose="020B0604020202020204" pitchFamily="34" charset="0"/>
                <a:cs typeface="Lato"/>
                <a:sym typeface="Lato"/>
              </a:rPr>
              <a:t>Anomalie détectée : </a:t>
            </a:r>
            <a:r>
              <a:rPr lang="fr-FR" sz="1050" dirty="0">
                <a:solidFill>
                  <a:schemeClr val="tx1"/>
                </a:solidFill>
                <a:latin typeface="Arial" panose="020B0604020202020204" pitchFamily="34" charset="0"/>
                <a:cs typeface="Lato"/>
                <a:sym typeface="Lato"/>
              </a:rPr>
              <a:t>L'Est parisien (ex: 11ème) présente un potentiel de sous-évaluation offrant de fortes opportunités de rendement </a:t>
            </a:r>
            <a:r>
              <a:rPr lang="fr-FR" sz="1050" dirty="0" err="1">
                <a:solidFill>
                  <a:schemeClr val="tx1"/>
                </a:solidFill>
                <a:latin typeface="Arial" panose="020B0604020202020204" pitchFamily="34" charset="0"/>
                <a:cs typeface="Lato"/>
                <a:sym typeface="Lato"/>
              </a:rPr>
              <a:t>Corporate</a:t>
            </a:r>
            <a:r>
              <a:rPr lang="fr-FR" sz="1050" dirty="0">
                <a:solidFill>
                  <a:schemeClr val="tx1"/>
                </a:solidFill>
                <a:latin typeface="Arial" panose="020B0604020202020204" pitchFamily="34" charset="0"/>
                <a:cs typeface="Lato"/>
                <a:sym typeface="Lato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1050" b="1" dirty="0">
              <a:solidFill>
                <a:schemeClr val="tx1"/>
              </a:solidFill>
              <a:latin typeface="Arial" panose="020B0604020202020204" pitchFamily="34" charset="0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102701" y="7782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II. Méthodologie suivie </a:t>
            </a:r>
            <a:endParaRPr sz="3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315764" y="1466986"/>
            <a:ext cx="8102386" cy="2873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sz="1500" b="1" dirty="0">
                <a:solidFill>
                  <a:schemeClr val="tx1"/>
                </a:solidFill>
                <a:latin typeface="Arial" panose="020B0604020202020204" pitchFamily="34" charset="0"/>
              </a:rPr>
              <a:t> Approche : </a:t>
            </a:r>
            <a:r>
              <a:rPr lang="fr-FR" sz="1500" dirty="0">
                <a:solidFill>
                  <a:schemeClr val="tx1"/>
                </a:solidFill>
                <a:latin typeface="Arial" panose="020B0604020202020204" pitchFamily="34" charset="0"/>
              </a:rPr>
              <a:t>Utilisation d'un algorithme d'apprentissage par l'exemple (Machine Learning).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sz="1500" b="1" dirty="0">
                <a:solidFill>
                  <a:schemeClr val="tx1"/>
                </a:solidFill>
                <a:latin typeface="Arial" panose="020B0604020202020204" pitchFamily="34" charset="0"/>
              </a:rPr>
              <a:t> Séparation chronologique : </a:t>
            </a:r>
            <a:r>
              <a:rPr lang="fr-FR" sz="1500" dirty="0">
                <a:solidFill>
                  <a:schemeClr val="tx1"/>
                </a:solidFill>
                <a:latin typeface="Arial" panose="020B0604020202020204" pitchFamily="34" charset="0"/>
              </a:rPr>
              <a:t>L'algorithme a été entraîné exclusivement sur les ventes passées (2017-2019) pour vérifier sa fiabilité sur les ventes plus récentes  dont ont lui a caché les prix (2020-2021).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sz="1500" b="1" dirty="0">
                <a:solidFill>
                  <a:schemeClr val="tx1"/>
                </a:solidFill>
                <a:latin typeface="Arial" panose="020B0604020202020204" pitchFamily="34" charset="0"/>
              </a:rPr>
              <a:t> Astuce de précision : </a:t>
            </a:r>
            <a:r>
              <a:rPr lang="fr-FR" sz="1500" dirty="0">
                <a:solidFill>
                  <a:schemeClr val="tx1"/>
                </a:solidFill>
                <a:latin typeface="Arial" panose="020B0604020202020204" pitchFamily="34" charset="0"/>
              </a:rPr>
              <a:t>Au lieu de prédire directement la valeur totale, l'algorithme calcule d'abord le prix au mètre carré, qui est ensuite multiplié par la surface réelle du bien.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sz="1500" b="1" dirty="0">
                <a:solidFill>
                  <a:schemeClr val="tx1"/>
                </a:solidFill>
                <a:latin typeface="Arial" panose="020B0604020202020204" pitchFamily="34" charset="0"/>
              </a:rPr>
              <a:t> Performance : </a:t>
            </a:r>
            <a:r>
              <a:rPr lang="fr-FR" sz="1500" dirty="0">
                <a:solidFill>
                  <a:schemeClr val="tx1"/>
                </a:solidFill>
                <a:latin typeface="Arial" panose="020B0604020202020204" pitchFamily="34" charset="0"/>
              </a:rPr>
              <a:t>Cette méthodologie stratégique a permis de faire chuter la marge d'erreur globale à environ 8,5 % sur les </a:t>
            </a:r>
            <a:r>
              <a:rPr lang="fr-FR" sz="1500" dirty="0" err="1">
                <a:solidFill>
                  <a:schemeClr val="tx1"/>
                </a:solidFill>
                <a:latin typeface="Arial" panose="020B0604020202020204" pitchFamily="34" charset="0"/>
              </a:rPr>
              <a:t>predictions</a:t>
            </a:r>
            <a:r>
              <a:rPr lang="fr-FR" sz="1500" dirty="0">
                <a:solidFill>
                  <a:schemeClr val="tx1"/>
                </a:solidFill>
                <a:latin typeface="Arial" panose="020B0604020202020204" pitchFamily="34" charset="0"/>
              </a:rPr>
              <a:t> du prix de vente final.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92F6CB1-73CC-6DB4-6982-FACB7B5E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DBA9EC7D-C047-CCC9-6B2B-21AF04486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III.</a:t>
            </a:r>
            <a:r>
              <a:rPr lang="fr-FR" sz="3600" dirty="0"/>
              <a:t> Le Portefeuille de Maurice/Louise</a:t>
            </a: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fr-FR" altLang="fr-FR" sz="3600" i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tx1"/>
              </a:solidFill>
              <a:latin typeface="Arial" panose="020B0604020202020204" pitchFamily="34" charset="0"/>
              <a:cs typeface="Lato"/>
              <a:sym typeface="Lato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9C588AE-B018-E028-F6FA-3C10BACD3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66" y="815265"/>
            <a:ext cx="7056564" cy="420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8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IV. Résultat des prédictions</a:t>
            </a:r>
            <a:endParaRPr sz="3300" dirty="0"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fr-FR" altLang="fr-FR" sz="900" i="1" dirty="0">
                <a:solidFill>
                  <a:schemeClr val="tx1"/>
                </a:solidFill>
                <a:latin typeface="Arial" panose="020B0604020202020204" pitchFamily="34" charset="0"/>
              </a:rPr>
              <a:t>(l</a:t>
            </a:r>
            <a:r>
              <a:rPr lang="fr-FR" sz="900" i="1" dirty="0">
                <a:solidFill>
                  <a:schemeClr val="tx1"/>
                </a:solidFill>
                <a:latin typeface="Arial" panose="020B0604020202020204" pitchFamily="34" charset="0"/>
              </a:rPr>
              <a:t>es montants sont des estimations basées sur les tendances historiques en millions d’euros)</a:t>
            </a:r>
            <a:br>
              <a:rPr lang="fr-FR" altLang="fr-FR" sz="3600" i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tx1"/>
              </a:solidFill>
              <a:latin typeface="Arial" panose="020B0604020202020204" pitchFamily="34" charset="0"/>
              <a:cs typeface="Lato"/>
              <a:sym typeface="Lato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93D95DD-27F9-9623-FA92-19BD3E094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9293" y="1489481"/>
            <a:ext cx="834555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Valorisation "Particuliers" (Appartements)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400" b="1" dirty="0"/>
              <a:t>77.18M€</a:t>
            </a:r>
            <a:endParaRPr lang="fr-FR" altLang="fr-FR" sz="14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Valorisation "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Corporate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(Locaux)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400" b="1" dirty="0"/>
              <a:t>106.58M€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financière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segment « </a:t>
            </a:r>
            <a:r>
              <a:rPr lang="fr-FR" altLang="fr-FR" sz="1400" i="1" dirty="0" err="1">
                <a:solidFill>
                  <a:schemeClr val="tx1"/>
                </a:solidFill>
                <a:latin typeface="Arial" panose="020B0604020202020204" pitchFamily="34" charset="0"/>
              </a:rPr>
              <a:t>Corporate</a:t>
            </a:r>
            <a:r>
              <a:rPr lang="fr-FR" altLang="fr-FR" sz="1400" i="1" dirty="0">
                <a:solidFill>
                  <a:schemeClr val="tx1"/>
                </a:solidFill>
                <a:latin typeface="Arial" panose="020B0604020202020204" pitchFamily="34" charset="0"/>
              </a:rPr>
              <a:t> »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 celui qui pèsera 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plus lourd fin 2022, dictant la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necessité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d’une gestion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ultra-ciblée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Limites du modèle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L'algorithme prolonge mathématiquement les tendances de croissance passées.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Précautions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est "aveugle" à la macroéconomie. Notre prédiction fin 2022 est donc probablement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surestimée par rapport à la réalité de la crise économique de 2022 (hausse des taux d'emprunt).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Aussi l</a:t>
            </a:r>
            <a:r>
              <a:rPr 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'expertise des équipes terrain reste indispensable pour interpréter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les cas atypiques (ex: biens de très grand luxe) que l'algorithme peut sous estimer.</a:t>
            </a:r>
            <a:endParaRPr lang="fr-FR" altLang="fr-FR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Plus Beaux Logis de Paris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subTitle" idx="1"/>
          </p:nvPr>
        </p:nvSpPr>
        <p:spPr>
          <a:xfrm>
            <a:off x="623400" y="2612200"/>
            <a:ext cx="8520600" cy="14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-FR" sz="2400" dirty="0"/>
              <a:t>Classification Automatique des Actifs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-FR" sz="22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Adam	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-FR" sz="2200" i="1">
                <a:solidFill>
                  <a:schemeClr val="dk1"/>
                </a:solidFill>
                <a:latin typeface="Montserrat"/>
              </a:rPr>
              <a:t>03/04/2026</a:t>
            </a:r>
            <a:endParaRPr lang="fr-FR" sz="2200" i="1" dirty="0">
              <a:solidFill>
                <a:schemeClr val="dk1"/>
              </a:solidFill>
              <a:latin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00" y="89925"/>
            <a:ext cx="3669750" cy="16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80411" y="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I. Méthodologie suivie </a:t>
            </a:r>
            <a:endParaRPr sz="3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8F41FEC7-C4CE-3BFC-51C9-9ED72ACE2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7756" y="1288921"/>
            <a:ext cx="761198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Besoin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Trier automatiquement une base de données immobilière dont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"étiquettes" (Appartement vs Local) étaient effacées.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L'Outil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Utilisation d'une Intelligence Artificielle de regroupement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automatique (K-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qui regroupe les biens en grappes en fonction de leur points communs (surface, localisation, valeur).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Facteur Clé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ne pas "distraire" la machine, nous ne lui avons fourni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qu'une seule dimension d'analyse : la différence de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prix au mètre carré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Fonctionnement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Sans aucune intervention humaine, l'algorithme a analysé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prix et tracé lui-même une frontière mathématique</a:t>
            </a:r>
            <a:endParaRPr lang="fr-FR" altLang="fr-FR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créer deux groupes distincts (les moins chers et les plus chers). </a:t>
            </a:r>
            <a:r>
              <a:rPr lang="fr-FR" alt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Comparer ces grappes avec la classification manuelle des </a:t>
            </a:r>
            <a:r>
              <a:rPr lang="fr-FR" altLang="fr-FR" sz="1400" dirty="0" err="1">
                <a:solidFill>
                  <a:schemeClr val="tx1"/>
                </a:solidFill>
                <a:latin typeface="Arial" panose="020B0604020202020204" pitchFamily="34" charset="0"/>
              </a:rPr>
              <a:t>equipes</a:t>
            </a:r>
            <a:r>
              <a:rPr lang="fr-FR" alt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 permet d’identifier les anomalies ou de nouvelles opportunités de </a:t>
            </a:r>
            <a:r>
              <a:rPr lang="fr-FR" altLang="fr-FR" sz="1400" dirty="0" err="1">
                <a:solidFill>
                  <a:schemeClr val="tx1"/>
                </a:solidFill>
                <a:latin typeface="Arial" panose="020B0604020202020204" pitchFamily="34" charset="0"/>
              </a:rPr>
              <a:t>segmentaiton</a:t>
            </a:r>
            <a:r>
              <a:rPr lang="fr-FR" alt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77DE33-3190-2BCC-E0CF-0D9B21B3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8" y="0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fr" sz="2800" dirty="0">
                <a:latin typeface="Montserrat"/>
                <a:ea typeface="Montserrat"/>
                <a:cs typeface="Montserrat"/>
                <a:sym typeface="Montserrat"/>
              </a:rPr>
              <a:t>III. </a:t>
            </a:r>
            <a:r>
              <a:rPr lang="fr-FR" dirty="0"/>
              <a:t>Nuage de points K-</a:t>
            </a:r>
            <a:r>
              <a:rPr lang="fr-FR" dirty="0" err="1"/>
              <a:t>Means</a:t>
            </a:r>
            <a:r>
              <a:rPr lang="fr-FR" dirty="0"/>
              <a:t> montrant les 2 clusters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031C06-DEA8-EE80-AB53-646A13A2F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46" y="1313023"/>
            <a:ext cx="6132668" cy="365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680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III. Résultat de la classification</a:t>
            </a:r>
            <a:endParaRPr sz="3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17AA3D-F152-B9AD-CAA7-4A6F5D8B2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0754" y="1662215"/>
            <a:ext cx="847074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Taux de réussite (Matching)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100 % d'exactitude par rapport au fichier de vérification.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L'algorithme a parfaitement isolé les 20 appartements et les 20 locaux commerciaux de l'échantillon.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Limites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 score parfait s'explique par un échantillon "idéal" (le local le moins cher restait plus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cher que l'appartement le plus cher). De plus on doit définir le nombre de groupes (K) à l’avance.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Précautions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 ce modèle est appliqué à l'échelle de tout Paris, des erreurs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marginales apparaîtront lors des chevauchements de prix (ex: un appartement de </a:t>
            </a:r>
            <a:endParaRPr lang="fr-FR" altLang="fr-FR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très grand luxe confondu avec un local commercial).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670</Words>
  <Application>Microsoft Office PowerPoint</Application>
  <PresentationFormat>Affichage à l'écran (16:9)</PresentationFormat>
  <Paragraphs>74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Lato</vt:lpstr>
      <vt:lpstr>Raleway</vt:lpstr>
      <vt:lpstr>Montserrat</vt:lpstr>
      <vt:lpstr>Arial</vt:lpstr>
      <vt:lpstr>Streamline</vt:lpstr>
      <vt:lpstr>Les Plus Beaux Logis de Paris Partie 1</vt:lpstr>
      <vt:lpstr>Présentation PowerPoint</vt:lpstr>
      <vt:lpstr>Analyse du marché de l’immobilier</vt:lpstr>
      <vt:lpstr>II. Méthodologie suivie    </vt:lpstr>
      <vt:lpstr>III. Le Portefeuille de Maurice/Louise    </vt:lpstr>
      <vt:lpstr>IV. Résultat des prédictions (les montants sont des estimations basées sur les tendances historiques en millions d’euros)   </vt:lpstr>
      <vt:lpstr>Les Plus Beaux Logis de Paris Partie 2</vt:lpstr>
      <vt:lpstr>Présentation PowerPoint</vt:lpstr>
      <vt:lpstr>I. Méthodologie suivie    </vt:lpstr>
      <vt:lpstr>III. Nuage de points K-Means montrant les 2 clusters</vt:lpstr>
      <vt:lpstr>III. Résultat de la classification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ADAM GHARBI</cp:lastModifiedBy>
  <cp:revision>12</cp:revision>
  <dcterms:modified xsi:type="dcterms:W3CDTF">2026-04-15T13:55:20Z</dcterms:modified>
</cp:coreProperties>
</file>